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4_AE2390E4.xml" ContentType="application/vnd.ms-powerpoint.comments+xml"/>
  <Override PartName="/ppt/notesSlides/notesSlide4.xml" ContentType="application/vnd.openxmlformats-officedocument.presentationml.notesSlide+xml"/>
  <Override PartName="/ppt/comments/modernComment_105_4C9D37A0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modernComment_101_6C983568.xml" ContentType="application/vnd.ms-powerpoint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modernComment_10B_3C62DC24.xml" ContentType="application/vnd.ms-powerpoint.comments+xml"/>
  <Override PartName="/ppt/notesSlides/notesSlide13.xml" ContentType="application/vnd.openxmlformats-officedocument.presentationml.notesSlide+xml"/>
  <Override PartName="/ppt/comments/modernComment_10C_5DB9806A.xml" ContentType="application/vnd.ms-powerpoint.comments+xml"/>
  <Override PartName="/ppt/notesSlides/notesSlide14.xml" ContentType="application/vnd.openxmlformats-officedocument.presentationml.notesSlide+xml"/>
  <Override PartName="/ppt/comments/modernComment_10D_5902A673.xml" ContentType="application/vnd.ms-powerpoint.comments+xml"/>
  <Override PartName="/ppt/notesSlides/notesSlide15.xml" ContentType="application/vnd.openxmlformats-officedocument.presentationml.notesSlide+xml"/>
  <Override PartName="/ppt/comments/modernComment_110_104A0D1F.xml" ContentType="application/vnd.ms-powerpoint.comments+xml"/>
  <Override PartName="/ppt/notesSlides/notesSlide16.xml" ContentType="application/vnd.openxmlformats-officedocument.presentationml.notesSlide+xml"/>
  <Override PartName="/ppt/comments/modernComment_10A_F57A1B1A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256" r:id="rId5"/>
    <p:sldId id="273" r:id="rId6"/>
    <p:sldId id="260" r:id="rId7"/>
    <p:sldId id="261" r:id="rId8"/>
    <p:sldId id="262" r:id="rId9"/>
    <p:sldId id="263" r:id="rId10"/>
    <p:sldId id="264" r:id="rId11"/>
    <p:sldId id="265" r:id="rId12"/>
    <p:sldId id="257" r:id="rId13"/>
    <p:sldId id="258" r:id="rId14"/>
    <p:sldId id="259" r:id="rId15"/>
    <p:sldId id="274" r:id="rId16"/>
    <p:sldId id="267" r:id="rId17"/>
    <p:sldId id="268" r:id="rId18"/>
    <p:sldId id="269" r:id="rId19"/>
    <p:sldId id="270" r:id="rId20"/>
    <p:sldId id="271" r:id="rId21"/>
    <p:sldId id="272" r:id="rId22"/>
    <p:sldId id="26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4AF000C-62EC-FE4C-69DB-62675E11F5A0}" name="Hunt, Randall [USA]" initials="HR[" userId="S::640458@bah.com::89bfa2a9-2144-4bd6-ba22-d79ad510780c" providerId="AD"/>
  <p188:author id="{F8FCC031-81A3-B21B-57EB-22115A932BF2}" name="Randall Hunt" initials="RH" userId="S::Randall_Hunt@partech.com::4c55b6c8-20fa-4fc5-ad69-633eabcdc4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3771" autoAdjust="0"/>
  </p:normalViewPr>
  <p:slideViewPr>
    <p:cSldViewPr snapToGrid="0">
      <p:cViewPr varScale="1">
        <p:scale>
          <a:sx n="93" d="100"/>
          <a:sy n="93" d="100"/>
        </p:scale>
        <p:origin x="12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66" d="100"/>
          <a:sy n="66" d="100"/>
        </p:scale>
        <p:origin x="2400" y="-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omments/modernComment_10A_F57A1B1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C3DB325-15DC-410B-9F06-F092A5C77585}" authorId="{F8FCC031-81A3-B21B-57EB-22115A932BF2}" created="2024-08-05T13:59:43.91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118420250" sldId="266"/>
      <ac:spMk id="3" creationId="{16918A54-FE7E-B5CD-9EF1-08385C1B54B2}"/>
    </ac:deMkLst>
    <p188:txBody>
      <a:bodyPr/>
      <a:lstStyle/>
      <a:p>
        <a:r>
          <a:rPr lang="en-US"/>
          <a:t>Revoking a certificate is used when we want to prevent access to a client before the expiration data or when a client no longer requires access. </a:t>
        </a:r>
      </a:p>
    </p188:txBody>
  </p188:cm>
  <p188:cm id="{C6264989-5008-48A9-8116-E713508B6A81}" authorId="{F8FCC031-81A3-B21B-57EB-22115A932BF2}" created="2024-08-05T14:00:26.31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118420250" sldId="266"/>
      <ac:spMk id="3" creationId="{16918A54-FE7E-B5CD-9EF1-08385C1B54B2}"/>
    </ac:deMkLst>
    <p188:txBody>
      <a:bodyPr/>
      <a:lstStyle/>
      <a:p>
        <a:r>
          <a:rPr lang="en-US"/>
          <a:t>We need to know some information regarding the client: certificates common name, who signed the certificate, and the private key associated with the signing cert authority. </a:t>
        </a:r>
      </a:p>
    </p188:txBody>
  </p188:cm>
  <p188:cm id="{6FAB0E73-D619-4A1D-8A99-FF807CD47144}" authorId="{F8FCC031-81A3-B21B-57EB-22115A932BF2}" created="2024-08-05T14:43:04.578">
    <pc:sldMkLst xmlns:pc="http://schemas.microsoft.com/office/powerpoint/2013/main/command">
      <pc:docMk/>
      <pc:sldMk cId="4118420250" sldId="266"/>
    </pc:sldMkLst>
    <p188:txBody>
      <a:bodyPr/>
      <a:lstStyle/>
      <a:p>
        <a:r>
          <a:rPr lang="en-US"/>
          <a:t>If you logged in and select auto enrollment for the user then you will need to revoke them from the server dashboard.</a:t>
        </a:r>
      </a:p>
    </p188:txBody>
  </p188:cm>
  <p188:cm id="{0C27750B-FF96-482F-8405-AE54E198EFE3}" authorId="{A4AF000C-62EC-FE4C-69DB-62675E11F5A0}" created="2024-12-30T15:10:38.301">
    <pc:sldMkLst xmlns:pc="http://schemas.microsoft.com/office/powerpoint/2013/main/command">
      <pc:docMk/>
      <pc:sldMk cId="4118420250" sldId="266"/>
    </pc:sldMkLst>
    <p188:txBody>
      <a:bodyPr/>
      <a:lstStyle/>
      <a:p>
        <a:r>
          <a:rPr lang="en-US"/>
          <a:t>The following is for revoking clients using the revokeCert.sh client command.</a:t>
        </a:r>
      </a:p>
    </p188:txBody>
  </p188:cm>
</p188:cmLst>
</file>

<file path=ppt/comments/modernComment_10B_3C62DC2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5650050-EEDC-418E-B0F8-B25A81767E24}" authorId="{F8FCC031-81A3-B21B-57EB-22115A932BF2}" created="2024-08-05T20:44:57.418">
    <pc:sldMkLst xmlns:pc="http://schemas.microsoft.com/office/powerpoint/2013/main/command">
      <pc:docMk/>
      <pc:sldMk cId="1013111844" sldId="267"/>
    </pc:sldMkLst>
    <p188:txBody>
      <a:bodyPr/>
      <a:lstStyle/>
      <a:p>
        <a:r>
          <a:rPr lang="en-US"/>
          <a:t>When you revoke a certificate from this dashboard you will need to restart the tak server service. </a:t>
        </a:r>
      </a:p>
    </p188:txBody>
  </p188:cm>
</p188:cmLst>
</file>

<file path=ppt/comments/modernComment_10C_5DB9806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3C07107-0EA7-437A-9173-6FD0BB1A31F3}" authorId="{A4AF000C-62EC-FE4C-69DB-62675E11F5A0}" created="2024-08-23T19:44:19.214">
    <pc:sldMkLst xmlns:pc="http://schemas.microsoft.com/office/powerpoint/2013/main/command">
      <pc:docMk/>
      <pc:sldMk cId="1572438122" sldId="268"/>
    </pc:sldMkLst>
    <p188:txBody>
      <a:bodyPr/>
      <a:lstStyle/>
      <a:p>
        <a:r>
          <a:rPr lang="en-US"/>
          <a:t>TLS: transport layer security</a:t>
        </a:r>
      </a:p>
    </p188:txBody>
  </p188:cm>
</p188:cmLst>
</file>

<file path=ppt/comments/modernComment_10D_5902A67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47A31AC-DA20-45FA-87A4-29715C3C24F9}" authorId="{F8FCC031-81A3-B21B-57EB-22115A932BF2}" created="2024-08-05T14:44:26.416">
    <pc:sldMkLst xmlns:pc="http://schemas.microsoft.com/office/powerpoint/2013/main/command">
      <pc:docMk/>
      <pc:sldMk cId="1493345907" sldId="269"/>
    </pc:sldMkLst>
    <p188:txBody>
      <a:bodyPr/>
      <a:lstStyle/>
      <a:p>
        <a:r>
          <a:rPr lang="en-US"/>
          <a:t>The following certificates are the ones that were created using the makeCert.sh client command.</a:t>
        </a:r>
      </a:p>
    </p188:txBody>
  </p188:cm>
  <p188:cm id="{DFE4D9E9-00B6-4FBC-A00E-CB44AC769A49}" authorId="{F8FCC031-81A3-B21B-57EB-22115A932BF2}" created="2024-08-05T14:48:00.341">
    <pc:sldMkLst xmlns:pc="http://schemas.microsoft.com/office/powerpoint/2013/main/command">
      <pc:docMk/>
      <pc:sldMk cId="1493345907" sldId="269"/>
    </pc:sldMkLst>
    <p188:txBody>
      <a:bodyPr/>
      <a:lstStyle/>
      <a:p>
        <a:r>
          <a:rPr lang="en-US"/>
          <a:t>in -crl is coming back as an invalid command run crl instead.</a:t>
        </a:r>
      </a:p>
    </p188:txBody>
  </p188:cm>
</p188:cmLst>
</file>

<file path=ppt/comments/modernComment_101_6C98356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E99F01-C11C-46E7-A056-C06965DA1C4A}" authorId="{F8FCC031-81A3-B21B-57EB-22115A932BF2}" created="2024-08-02T18:40:22.233">
    <pc:sldMkLst xmlns:pc="http://schemas.microsoft.com/office/powerpoint/2013/main/command">
      <pc:docMk/>
      <pc:sldMk cId="1821914472" sldId="257"/>
    </pc:sldMkLst>
    <p188:txBody>
      <a:bodyPr/>
      <a:lstStyle/>
      <a:p>
        <a:r>
          <a:rPr lang="en-US"/>
          <a:t>We successfully created a new user, which can be seen from the admin dashboard -&gt; hamburger menu -&gt; administrative -&gt; manage users.</a:t>
        </a:r>
      </a:p>
    </p188:txBody>
  </p188:cm>
  <p188:cm id="{6B384962-B49D-477E-B4C9-1B1C2B880F20}" authorId="{F8FCC031-81A3-B21B-57EB-22115A932BF2}" created="2024-08-05T15:50:43.404">
    <pc:sldMkLst xmlns:pc="http://schemas.microsoft.com/office/powerpoint/2013/main/command">
      <pc:docMk/>
      <pc:sldMk cId="1821914472" sldId="257"/>
    </pc:sldMkLst>
    <p188:txBody>
      <a:bodyPr/>
      <a:lstStyle/>
      <a:p>
        <a:r>
          <a:rPr lang="en-US"/>
          <a:t>You can create a user from the command line but will still need to give them a default password on the TAK Server dashboard to allow them to connect</a:t>
        </a:r>
      </a:p>
    </p188:txBody>
  </p188:cm>
</p188:cmLst>
</file>

<file path=ppt/comments/modernComment_104_AE2390E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9B88E75-EFAB-4154-B4A7-9A5978E36D4A}" authorId="{F8FCC031-81A3-B21B-57EB-22115A932BF2}" created="2024-08-02T18:52:26.34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921566436" sldId="260"/>
      <ac:spMk id="3" creationId="{16159D1F-039A-B992-06F1-A6E317FA1F2B}"/>
    </ac:deMkLst>
    <p188:txBody>
      <a:bodyPr/>
      <a:lstStyle/>
      <a:p>
        <a:r>
          <a:rPr lang="en-US"/>
          <a:t>Setting this up allows for the TAK Server to issue certificates to clients upon successful authentication. The server wills tore the client credentials. </a:t>
        </a:r>
      </a:p>
    </p188:txBody>
  </p188:cm>
  <p188:cm id="{239075C7-3457-4C8F-962B-36247D5D1295}" authorId="{F8FCC031-81A3-B21B-57EB-22115A932BF2}" created="2024-08-02T19:01:51.623">
    <pc:sldMkLst xmlns:pc="http://schemas.microsoft.com/office/powerpoint/2013/main/command">
      <pc:docMk/>
      <pc:sldMk cId="2921566436" sldId="260"/>
    </pc:sldMkLst>
    <p188:txBody>
      <a:bodyPr/>
      <a:lstStyle/>
      <a:p>
        <a:r>
          <a:rPr lang="en-US"/>
          <a:t>By submitting this we are appending new elements in our CoreConfig.xml file identified by the certificateSigning block. </a:t>
        </a:r>
      </a:p>
    </p188:txBody>
  </p188:cm>
</p188:cmLst>
</file>

<file path=ppt/comments/modernComment_105_4C9D37A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860A9CF-7E4D-4CE2-B4BA-75751FE82167}" authorId="{F8FCC031-81A3-B21B-57EB-22115A932BF2}" created="2024-08-02T19:26:50.276">
    <pc:sldMkLst xmlns:pc="http://schemas.microsoft.com/office/powerpoint/2013/main/command">
      <pc:docMk/>
      <pc:sldMk cId="1285371808" sldId="261"/>
    </pc:sldMkLst>
    <p188:txBody>
      <a:bodyPr/>
      <a:lstStyle/>
      <a:p>
        <a:r>
          <a:rPr lang="en-US"/>
          <a:t>If you noticed we applied the changes directly to the CoreConfig.xml file and not the CoreConfig.example.xml file. This ensures we have a working backup, but if you know the changes are good you can overwrite the CoreConfig.example.xml file. </a:t>
        </a:r>
      </a:p>
    </p188:txBody>
  </p188:cm>
  <p188:cm id="{8E5A5510-50DE-4467-8FDE-867A6A3E984C}" authorId="{F8FCC031-81A3-B21B-57EB-22115A932BF2}" created="2024-08-05T20:37:36.348">
    <pc:sldMkLst xmlns:pc="http://schemas.microsoft.com/office/powerpoint/2013/main/command">
      <pc:docMk/>
      <pc:sldMk cId="1285371808" sldId="261"/>
    </pc:sldMkLst>
    <p188:txBody>
      <a:bodyPr/>
      <a:lstStyle/>
      <a:p>
        <a:r>
          <a:rPr lang="en-US"/>
          <a:t>If you want to be an over achiever you can make the changes to the CoreConfig.xml file. I highly recommend you create a backup copy of the /opt/tak directory encase you royally screw up.</a:t>
        </a:r>
      </a:p>
    </p188:txBody>
  </p188:cm>
  <p188:cm id="{8ABD424B-B570-4B08-B222-58EFFE96363D}" authorId="{F8FCC031-81A3-B21B-57EB-22115A932BF2}" created="2024-08-05T20:40:32.01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285371808" sldId="261"/>
      <ac:spMk id="3" creationId="{74F86D96-EBA6-5215-0596-A8254BAD4F3D}"/>
    </ac:deMkLst>
    <p188:txBody>
      <a:bodyPr/>
      <a:lstStyle/>
      <a:p>
        <a:r>
          <a:rPr lang="en-US"/>
          <a:t>Reminder: anytime you make changes to the CoreConfig.xml file you need to restart to apply these  changes. </a:t>
        </a:r>
      </a:p>
    </p188:txBody>
  </p188:cm>
  <p188:cm id="{0CAC1A85-9C47-45B4-AF22-971B0A1B3D58}" authorId="{F8FCC031-81A3-B21B-57EB-22115A932BF2}" created="2024-08-11T18:15:46.041">
    <pc:sldMkLst xmlns:pc="http://schemas.microsoft.com/office/powerpoint/2013/main/command">
      <pc:docMk/>
      <pc:sldMk cId="1285371808" sldId="261"/>
    </pc:sldMkLst>
    <p188:txBody>
      <a:bodyPr/>
      <a:lstStyle/>
      <a:p>
        <a:r>
          <a:rPr lang="en-US"/>
          <a:t>vi = Visual Interface 
Vim is an extension of vi with for features.</a:t>
        </a:r>
      </a:p>
    </p188:txBody>
  </p188:cm>
</p188:cmLst>
</file>

<file path=ppt/comments/modernComment_110_104A0D1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6C5335E-1C6A-4671-B0B3-67CB5474ECB6}" authorId="{F8FCC031-81A3-B21B-57EB-22115A932BF2}" created="2024-08-05T15:54:51.73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3288479" sldId="272"/>
      <ac:spMk id="3" creationId="{D14E689A-8625-DA17-7949-A1B3697DC066}"/>
    </ac:deMkLst>
    <p188:txBody>
      <a:bodyPr/>
      <a:lstStyle/>
      <a:p>
        <a:r>
          <a:rPr lang="en-US"/>
          <a:t>The standard procedure is to revoke the client and then remove the user account to prevent future authentication attempts.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3383F-8FF1-4EA4-951F-6DDB9CF2F876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7522D-A861-42E7-937E-C93D2F535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88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7522D-A861-42E7-937E-C93D2F535A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949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7522D-A861-42E7-937E-C93D2F535AC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120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</a:t>
            </a:r>
            <a:r>
              <a:rPr lang="en-US" sz="1800" dirty="0">
                <a:effectLst/>
                <a:latin typeface="Segoe UI" panose="020B0502040204020203" pitchFamily="34" charset="0"/>
              </a:rPr>
              <a:t>Setting this up allows for the TAK Server to issue certificates to clients upon successful authentication. The server will store the client credentials. </a:t>
            </a:r>
          </a:p>
          <a:p>
            <a:r>
              <a:rPr lang="en-US" dirty="0"/>
              <a:t># </a:t>
            </a:r>
            <a:r>
              <a:rPr lang="en-US" sz="1800" dirty="0">
                <a:effectLst/>
                <a:latin typeface="Segoe UI" panose="020B0502040204020203" pitchFamily="34" charset="0"/>
              </a:rPr>
              <a:t>By submitting this we are appending new elements in our CoreConfig.xml file identified by the </a:t>
            </a:r>
            <a:r>
              <a:rPr lang="en-US" sz="1800" dirty="0" err="1">
                <a:effectLst/>
                <a:latin typeface="Segoe UI" panose="020B0502040204020203" pitchFamily="34" charset="0"/>
              </a:rPr>
              <a:t>certificateSigning</a:t>
            </a:r>
            <a:r>
              <a:rPr lang="en-US" sz="1800" dirty="0">
                <a:effectLst/>
                <a:latin typeface="Segoe UI" panose="020B0502040204020203" pitchFamily="34" charset="0"/>
              </a:rPr>
              <a:t> block.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7522D-A861-42E7-937E-C93D2F535AC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68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</a:t>
            </a:r>
            <a:r>
              <a:rPr lang="en-US" sz="1800" dirty="0">
                <a:effectLst/>
                <a:latin typeface="Segoe UI" panose="020B0502040204020203" pitchFamily="34" charset="0"/>
              </a:rPr>
              <a:t>If you noticed we applied the changes directly to the CoreConfig.xml file and not the CoreConfig.example.xml file. This ensures we have a working backup, but if you know the changes are good you can overwrite the CoreConfig.example.xml file. </a:t>
            </a:r>
          </a:p>
          <a:p>
            <a:r>
              <a:rPr lang="en-US" dirty="0"/>
              <a:t># </a:t>
            </a:r>
            <a:r>
              <a:rPr lang="en-US" sz="1800" dirty="0">
                <a:effectLst/>
                <a:latin typeface="Segoe UI" panose="020B0502040204020203" pitchFamily="34" charset="0"/>
              </a:rPr>
              <a:t>If you want to be an over achiever you can make the changes to the CoreConfig.xml file. I highly recommend you create a backup copy of the /opt/</a:t>
            </a:r>
            <a:r>
              <a:rPr lang="en-US" sz="1800" dirty="0" err="1">
                <a:effectLst/>
                <a:latin typeface="Segoe UI" panose="020B0502040204020203" pitchFamily="34" charset="0"/>
              </a:rPr>
              <a:t>tak</a:t>
            </a:r>
            <a:r>
              <a:rPr lang="en-US" sz="1800" dirty="0">
                <a:effectLst/>
                <a:latin typeface="Segoe UI" panose="020B0502040204020203" pitchFamily="34" charset="0"/>
              </a:rPr>
              <a:t> directory encase you royally screw up.</a:t>
            </a:r>
          </a:p>
          <a:p>
            <a:r>
              <a:rPr lang="en-US" sz="1800" dirty="0">
                <a:effectLst/>
                <a:latin typeface="Segoe UI" panose="020B0502040204020203" pitchFamily="34" charset="0"/>
              </a:rPr>
              <a:t># Reminder: anytime you make changes to the CoreConfig.xml file you need to restart to apply these changes.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Segoe UI" panose="020B0502040204020203" pitchFamily="34" charset="0"/>
              </a:rPr>
              <a:t># vi = Visual Interface </a:t>
            </a:r>
            <a:br>
              <a:rPr lang="en-US" sz="1800" dirty="0">
                <a:effectLst/>
                <a:latin typeface="Segoe UI" panose="020B0502040204020203" pitchFamily="34" charset="0"/>
              </a:rPr>
            </a:br>
            <a:r>
              <a:rPr lang="en-US" sz="1800" dirty="0">
                <a:effectLst/>
                <a:latin typeface="Segoe UI" panose="020B0502040204020203" pitchFamily="34" charset="0"/>
              </a:rPr>
              <a:t>Vim is an extension of vi with for features.</a:t>
            </a:r>
            <a:endParaRPr lang="en-US" sz="1800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7522D-A861-42E7-937E-C93D2F535AC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79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7522D-A861-42E7-937E-C93D2F535AC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641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7522D-A861-42E7-937E-C93D2F535AC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386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You can create multiple users at once through the user manager on the TAK Server dashboard.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When creating </a:t>
            </a:r>
            <a:r>
              <a:rPr lang="en-US"/>
              <a:t>multiple users, </a:t>
            </a:r>
            <a:r>
              <a:rPr lang="en-US" dirty="0"/>
              <a:t>the passwords will be auto generated and stored in a text file that is </a:t>
            </a:r>
            <a:r>
              <a:rPr lang="en-US"/>
              <a:t>automatically downloaded.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7522D-A861-42E7-937E-C93D2F535AC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13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7522D-A861-42E7-937E-C93D2F535AC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488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</a:t>
            </a:r>
            <a:r>
              <a:rPr lang="en-US" sz="1800" dirty="0">
                <a:effectLst/>
                <a:latin typeface="Segoe UI" panose="020B0502040204020203" pitchFamily="34" charset="0"/>
              </a:rPr>
              <a:t>We successfully created a new user, which can be seen from the admin dashboard -&gt; hamburger menu -&gt; administrative -&gt; manage users.</a:t>
            </a:r>
          </a:p>
          <a:p>
            <a:r>
              <a:rPr lang="en-US" sz="1800" dirty="0">
                <a:effectLst/>
                <a:latin typeface="Segoe UI" panose="020B0502040204020203" pitchFamily="34" charset="0"/>
              </a:rPr>
              <a:t># You can create a user from the command line but will still need to give them a default password on the TAK Server dashboard to allow them to connect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7522D-A861-42E7-937E-C93D2F535AC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49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7522D-A861-42E7-937E-C93D2F535AC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2747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7522D-A861-42E7-937E-C93D2F535AC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7675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</a:t>
            </a:r>
            <a:r>
              <a:rPr lang="en-US" sz="1800" dirty="0">
                <a:effectLst/>
                <a:latin typeface="Segoe UI" panose="020B0502040204020203" pitchFamily="34" charset="0"/>
              </a:rPr>
              <a:t>When you revoke a certificate from this dashboard you will need to restart the </a:t>
            </a:r>
            <a:r>
              <a:rPr lang="en-US" sz="1800" dirty="0" err="1">
                <a:effectLst/>
                <a:latin typeface="Segoe UI" panose="020B0502040204020203" pitchFamily="34" charset="0"/>
              </a:rPr>
              <a:t>tak</a:t>
            </a:r>
            <a:r>
              <a:rPr lang="en-US" sz="1800" dirty="0">
                <a:effectLst/>
                <a:latin typeface="Segoe UI" panose="020B0502040204020203" pitchFamily="34" charset="0"/>
              </a:rPr>
              <a:t> server service.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7522D-A861-42E7-937E-C93D2F535AC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6789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</a:t>
            </a:r>
            <a:r>
              <a:rPr lang="en-US" sz="1800" dirty="0">
                <a:effectLst/>
                <a:latin typeface="Segoe UI" panose="020B0502040204020203" pitchFamily="34" charset="0"/>
              </a:rPr>
              <a:t>TLS: transport layer security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7522D-A861-42E7-937E-C93D2F535AC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175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</a:t>
            </a:r>
            <a:r>
              <a:rPr lang="en-US" sz="1800" dirty="0">
                <a:effectLst/>
                <a:latin typeface="Segoe UI" panose="020B0502040204020203" pitchFamily="34" charset="0"/>
              </a:rPr>
              <a:t>The following certificates are the ones that were created using the makeCert.sh client command.</a:t>
            </a:r>
          </a:p>
          <a:p>
            <a:r>
              <a:rPr lang="en-US" sz="1800" dirty="0">
                <a:effectLst/>
                <a:latin typeface="Segoe UI" panose="020B0502040204020203" pitchFamily="34" charset="0"/>
              </a:rPr>
              <a:t># in -</a:t>
            </a:r>
            <a:r>
              <a:rPr lang="en-US" sz="1800" dirty="0" err="1">
                <a:effectLst/>
                <a:latin typeface="Segoe UI" panose="020B0502040204020203" pitchFamily="34" charset="0"/>
              </a:rPr>
              <a:t>crl</a:t>
            </a:r>
            <a:r>
              <a:rPr lang="en-US" sz="1800" dirty="0">
                <a:effectLst/>
                <a:latin typeface="Segoe UI" panose="020B0502040204020203" pitchFamily="34" charset="0"/>
              </a:rPr>
              <a:t> is coming back as an invalid command run </a:t>
            </a:r>
            <a:r>
              <a:rPr lang="en-US" sz="1800" dirty="0" err="1">
                <a:effectLst/>
                <a:latin typeface="Segoe UI" panose="020B0502040204020203" pitchFamily="34" charset="0"/>
              </a:rPr>
              <a:t>crl</a:t>
            </a:r>
            <a:r>
              <a:rPr lang="en-US" sz="1800" dirty="0">
                <a:effectLst/>
                <a:latin typeface="Segoe UI" panose="020B0502040204020203" pitchFamily="34" charset="0"/>
              </a:rPr>
              <a:t>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7522D-A861-42E7-937E-C93D2F535AC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147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</a:t>
            </a:r>
            <a:r>
              <a:rPr lang="en-US" sz="1800" dirty="0">
                <a:effectLst/>
                <a:latin typeface="Segoe UI" panose="020B0502040204020203" pitchFamily="34" charset="0"/>
              </a:rPr>
              <a:t>The standard procedure is to revoke the client and then remove the user account to prevent future authentication attempts.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7522D-A861-42E7-937E-C93D2F535AC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5498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</a:t>
            </a:r>
            <a:r>
              <a:rPr lang="en-US" sz="1800" dirty="0">
                <a:effectLst/>
                <a:latin typeface="Segoe UI" panose="020B0502040204020203" pitchFamily="34" charset="0"/>
              </a:rPr>
              <a:t>Revoking a certificate is used when we want to prevent access to a client before the expiration data or when a client no longer requires access. </a:t>
            </a:r>
          </a:p>
          <a:p>
            <a:r>
              <a:rPr lang="en-US" sz="1800" dirty="0">
                <a:effectLst/>
                <a:latin typeface="Segoe UI" panose="020B0502040204020203" pitchFamily="34" charset="0"/>
              </a:rPr>
              <a:t># We need to know some information regarding the client: certificates common name, who signed the certificate, and the private key associated with the signing cert authority. </a:t>
            </a:r>
          </a:p>
          <a:p>
            <a:r>
              <a:rPr lang="en-US" sz="1800" dirty="0">
                <a:effectLst/>
                <a:latin typeface="Segoe UI" panose="020B0502040204020203" pitchFamily="34" charset="0"/>
              </a:rPr>
              <a:t># The following is for revoking clients using the revokeCert.sh client command.</a:t>
            </a:r>
          </a:p>
          <a:p>
            <a:r>
              <a:rPr lang="en-US" sz="1800" dirty="0">
                <a:effectLst/>
                <a:latin typeface="Segoe UI" panose="020B0502040204020203" pitchFamily="34" charset="0"/>
              </a:rPr>
              <a:t># If you logged in and select auto enrollment for the user then you will need to revoke them from the server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7522D-A861-42E7-937E-C93D2F535AC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651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A5E84-CC81-0FF3-908B-20ED4450F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3E8ACD-9F32-E166-11EE-D825417951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84D74-45A1-CD27-EDE9-50EEED30A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6F3B-E0CA-4FCB-9EDD-3E94CEE3FB4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38B67-510C-EA0B-0A53-615381ACF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95740-D5EA-FEE1-076F-BCF2E4C2E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CCC2-BBFB-4904-BFB3-AD55A0B14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46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9B218-DE01-6C58-117E-FB2112444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39957-EF8C-5F02-E6F7-B96395FD9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1E46C-9CF5-68CB-8977-C26396765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6F3B-E0CA-4FCB-9EDD-3E94CEE3FB4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A0AC6-F047-3408-8A03-81FD8C71F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F37A1-1975-DC1A-A9A4-F0F19082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CCC2-BBFB-4904-BFB3-AD55A0B14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4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C8B53-9ACF-C1E8-E556-7D0D3BA7A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DE5E7-E2A7-681A-FC8D-A13BABA4E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97472-AD03-D53A-1BD9-DC3C3771F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6F3B-E0CA-4FCB-9EDD-3E94CEE3FB4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92E43-42A4-2B2E-1A59-715BD0186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53CD5-3358-D5DF-34D2-B630F98C0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CCC2-BBFB-4904-BFB3-AD55A0B14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891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621F7-4632-555E-F6E3-7D24586B4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DD1AC-26B4-A961-F50F-C67F5174CA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A6887-F4AB-B9E3-BD90-0A680C566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21350E-F3DE-05DB-2588-8F05C28C0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6F3B-E0CA-4FCB-9EDD-3E94CEE3FB4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53F63-5496-78BF-4290-331E5A9F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9A59F-EA8D-2DF2-0772-A15EC27F4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CCC2-BBFB-4904-BFB3-AD55A0B14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36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8ADE3-8410-3080-7059-D573A40E2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B4AE8-D74D-967E-F185-A8893D512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CF3C5A-F189-22EF-B384-697D17534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5DAC59-C06C-70E6-7ACA-6879684F4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393848-8AF5-3986-49A3-3DFA4A5F74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0C3D0F-7874-1CA2-579C-FD9BAB83C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6F3B-E0CA-4FCB-9EDD-3E94CEE3FB4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43D008-F37F-8CE9-5F23-ED94E258D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409738-5DB7-D8D5-ACD8-7FCAB2750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CCC2-BBFB-4904-BFB3-AD55A0B14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3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D6C4D-952D-FD97-4FFA-002886CF6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3F8FA0-775E-7D65-7AB8-0118F58FF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6F3B-E0CA-4FCB-9EDD-3E94CEE3FB4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A9A5D-7426-59E0-DE6C-791F98E00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D2D4AB-96D2-07FA-0717-BE6FA95A1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CCC2-BBFB-4904-BFB3-AD55A0B14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749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DA251-F71B-EE66-9765-E81357379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6F3B-E0CA-4FCB-9EDD-3E94CEE3FB4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E9752E-F5D2-A325-E3CE-A85F2BE5E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8E430-FD36-9B38-31D7-487CF23D1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CCC2-BBFB-4904-BFB3-AD55A0B14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7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1AE0B-82B5-EAEA-BFCC-5C4BEC621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6CD21-97C9-DF8F-0921-860520EF8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FD1076-031C-2978-132A-722AAC1C0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27DEC7-7BF5-18E9-A531-75D3E970E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6F3B-E0CA-4FCB-9EDD-3E94CEE3FB4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5C23CD-A7DE-9D06-8478-AD8B176B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87BA7-AAB5-1844-E96A-113751129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CCC2-BBFB-4904-BFB3-AD55A0B14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37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44037-2A57-EDB0-E356-F16C7536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2EFE63-F9E6-C92D-8929-CE2AC89653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7CC90-1E45-9E14-D51C-0C61B7D90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2C5A70-42BE-8EC4-6B25-5EDD357C9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6F3B-E0CA-4FCB-9EDD-3E94CEE3FB4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0F2B3-FC7E-9E29-743B-3D8781BE4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1A44A-5270-F006-1DAB-C90FE0D1F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CCC2-BBFB-4904-BFB3-AD55A0B14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39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1A739-AEBA-1B8F-9B1F-E6A71B5E9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5229D9-B3B6-1490-7572-98F6CAC173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28D06-D449-EC6A-5DDA-A0E0C9427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6F3B-E0CA-4FCB-9EDD-3E94CEE3FB4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99C75-86FF-8512-228B-4917C014B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229D5-3575-E663-07E6-A4BFAE442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CCC2-BBFB-4904-BFB3-AD55A0B14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659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6F0B03-4F74-9DC0-A1B0-CF4571B72F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771E83-DFE1-245D-0B2D-F1AF4DDD6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2932E-E81D-0052-82CD-D645B05AC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6F3B-E0CA-4FCB-9EDD-3E94CEE3FB4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ECDCF-E332-6F1B-334B-E1A84BF3F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65D3D-99B8-0ECF-F54C-FB3F3CAC4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CCC2-BBFB-4904-BFB3-AD55A0B14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450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D8725B-1951-AF3E-DA2D-19DAD2443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EBB2C-854E-5580-5F56-2BB35C578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8F0E8-E083-13AC-ADB7-0CE0F91790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D6F3B-E0CA-4FCB-9EDD-3E94CEE3FB4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160B9-73BD-7506-25DC-A699E1F473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66F98-3675-1CEB-66E4-B4EF4FDB29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5CCC2-BBFB-4904-BFB3-AD55A0B14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4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AE2390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4C9D37A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6C98356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takadmin@192.168.1.104:~/wintak.p12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mailto:takadmin@192.168.1.104:~/truststore-*.p12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B_3C62DC2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C_5DB9806A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D_5902A67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0_104A0D1F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A_F57A1B1A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422A0-B1B2-45D9-1423-7B811B90DF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TAK Server Certificate Enrollment/Revoking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F20B37-CF09-D1D0-18BE-5CDDAF2D7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59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98A83-0D17-4D97-D886-8C124AF1C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Certificate Enrollment - Hard vs Soft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C34E1-D8BD-1040-4B3E-95E9AB111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  <a:latin typeface="Segoe UI" panose="020B0502040204020203" pitchFamily="34" charset="0"/>
              </a:rPr>
              <a:t>With the makeCert.sh we are creating "Soft" certificates which are manually generated followed by the UserManager.jar placing the certificate in a group. </a:t>
            </a:r>
          </a:p>
          <a:p>
            <a:pPr lvl="1"/>
            <a:r>
              <a:rPr lang="en-US" dirty="0">
                <a:latin typeface="Segoe UI" panose="020B0502040204020203" pitchFamily="34" charset="0"/>
              </a:rPr>
              <a:t>You would need to pass the user both the trust store certificate and the user certificate for them to be able to connect.</a:t>
            </a:r>
            <a:endParaRPr lang="en-US" dirty="0">
              <a:effectLst/>
              <a:latin typeface="Arial" panose="020B0604020202020204" pitchFamily="34" charset="0"/>
            </a:endParaRPr>
          </a:p>
          <a:p>
            <a:r>
              <a:rPr lang="en-US" dirty="0">
                <a:effectLst/>
                <a:latin typeface="Segoe UI" panose="020B0502040204020203" pitchFamily="34" charset="0"/>
              </a:rPr>
              <a:t>The other method is "Hard", using certificate enrollment where the client gets its certificate directly from the server and is placed in the group automatically.</a:t>
            </a:r>
          </a:p>
          <a:p>
            <a:pPr lvl="1"/>
            <a:r>
              <a:rPr lang="en-US" dirty="0">
                <a:latin typeface="Segoe UI" panose="020B0502040204020203" pitchFamily="34" charset="0"/>
              </a:rPr>
              <a:t>By selecting the auto enrollment feature when connecting to the server you only need to enter in the IP address and then enter the credentials. </a:t>
            </a:r>
          </a:p>
          <a:p>
            <a:pPr lvl="2"/>
            <a:r>
              <a:rPr lang="en-US" sz="1600" dirty="0">
                <a:latin typeface="Segoe UI" panose="020B0502040204020203" pitchFamily="34" charset="0"/>
              </a:rPr>
              <a:t>Unless you don’t have a public facing domain, then you will need to pass the user the trust store cert.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612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171F8-A2DB-7970-9510-1041B501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Certificate Auto Enrollment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59D1F-039A-B992-06F1-A6E317FA1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9752"/>
            <a:ext cx="10515600" cy="553824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Identify our signing </a:t>
            </a:r>
            <a:r>
              <a:rPr lang="en-US" dirty="0" err="1"/>
              <a:t>truststore</a:t>
            </a:r>
            <a:endParaRPr lang="en-US" dirty="0"/>
          </a:p>
          <a:p>
            <a:pPr lvl="1"/>
            <a:r>
              <a:rPr lang="en-US" b="1" dirty="0"/>
              <a:t>ls -l /opt/</a:t>
            </a:r>
            <a:r>
              <a:rPr lang="en-US" b="1" dirty="0" err="1"/>
              <a:t>tak</a:t>
            </a:r>
            <a:r>
              <a:rPr lang="en-US" b="1" dirty="0"/>
              <a:t>/certs/files/*-</a:t>
            </a:r>
            <a:r>
              <a:rPr lang="en-US" b="1" dirty="0" err="1"/>
              <a:t>signing.jks</a:t>
            </a:r>
            <a:endParaRPr lang="en-US" b="1" dirty="0"/>
          </a:p>
          <a:p>
            <a:r>
              <a:rPr lang="en-US" dirty="0"/>
              <a:t>Navigate to your TAK Server admin dashboard on a browser</a:t>
            </a:r>
          </a:p>
          <a:p>
            <a:pPr lvl="1"/>
            <a:r>
              <a:rPr lang="en-US" dirty="0"/>
              <a:t>Navigate to: Hamburger menu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Configuration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Security and Authentication</a:t>
            </a:r>
          </a:p>
          <a:p>
            <a:pPr lvl="1"/>
            <a:r>
              <a:rPr lang="en-US" dirty="0"/>
              <a:t>Under the Security Configuration section select the “Edit Security” option. </a:t>
            </a:r>
          </a:p>
          <a:p>
            <a:pPr lvl="1"/>
            <a:r>
              <a:rPr lang="en-US" dirty="0"/>
              <a:t>Enable the “Enable Certificate Enrollment” option and then enable the “TAK Server CA” option. </a:t>
            </a:r>
          </a:p>
          <a:p>
            <a:pPr lvl="1"/>
            <a:r>
              <a:rPr lang="en-US" dirty="0"/>
              <a:t>Fill in the following: </a:t>
            </a:r>
          </a:p>
          <a:p>
            <a:pPr lvl="2"/>
            <a:r>
              <a:rPr lang="en-US" dirty="0"/>
              <a:t>Signing Keystore File = certs/files/&lt;</a:t>
            </a:r>
            <a:r>
              <a:rPr lang="en-US" dirty="0" err="1"/>
              <a:t>CACommonName</a:t>
            </a:r>
            <a:r>
              <a:rPr lang="en-US" dirty="0"/>
              <a:t>&gt;-</a:t>
            </a:r>
            <a:r>
              <a:rPr lang="en-US" dirty="0" err="1"/>
              <a:t>signing.jks</a:t>
            </a:r>
            <a:endParaRPr lang="en-US" dirty="0"/>
          </a:p>
          <a:p>
            <a:pPr lvl="3"/>
            <a:r>
              <a:rPr lang="en-US" dirty="0"/>
              <a:t>the common name if the one we identified as our signing </a:t>
            </a:r>
            <a:r>
              <a:rPr lang="en-US" dirty="0" err="1"/>
              <a:t>truststore</a:t>
            </a:r>
            <a:r>
              <a:rPr lang="en-US" dirty="0"/>
              <a:t> above. </a:t>
            </a:r>
          </a:p>
          <a:p>
            <a:pPr lvl="2"/>
            <a:r>
              <a:rPr lang="en-US" dirty="0"/>
              <a:t>Signing Keystore Password = Default: </a:t>
            </a:r>
            <a:r>
              <a:rPr lang="en-US" dirty="0" err="1"/>
              <a:t>atakatak</a:t>
            </a:r>
            <a:r>
              <a:rPr lang="en-US" dirty="0"/>
              <a:t> (if you changed the password in the cert-metadata.sh file that would go here.)</a:t>
            </a:r>
          </a:p>
          <a:p>
            <a:pPr lvl="2"/>
            <a:r>
              <a:rPr lang="en-US" dirty="0"/>
              <a:t>Validity Days: Leave as default or change to how many days the certificate should be valid for. </a:t>
            </a:r>
          </a:p>
          <a:p>
            <a:pPr lvl="1"/>
            <a:r>
              <a:rPr lang="en-US" dirty="0"/>
              <a:t>After all those are filled in click “submit”</a:t>
            </a:r>
          </a:p>
          <a:p>
            <a:pPr lvl="1"/>
            <a:r>
              <a:rPr lang="en-US" dirty="0"/>
              <a:t>Restart the server: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systemctl</a:t>
            </a:r>
            <a:r>
              <a:rPr lang="en-US" b="1" dirty="0"/>
              <a:t> restart </a:t>
            </a:r>
            <a:r>
              <a:rPr lang="en-US" b="1" dirty="0" err="1"/>
              <a:t>takserver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2156643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D3EFA-6F55-2BFF-1E46-481983306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723"/>
            <a:ext cx="10515600" cy="1325563"/>
          </a:xfrm>
        </p:spPr>
        <p:txBody>
          <a:bodyPr/>
          <a:lstStyle/>
          <a:p>
            <a:r>
              <a:rPr lang="en-US" dirty="0"/>
              <a:t>Certificate Auto Enrollment - Command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86D96-EBA6-5215-0596-A8254BAD4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0326"/>
            <a:ext cx="10515600" cy="4866637"/>
          </a:xfrm>
        </p:spPr>
        <p:txBody>
          <a:bodyPr/>
          <a:lstStyle/>
          <a:p>
            <a:r>
              <a:rPr lang="en-US" dirty="0"/>
              <a:t>To change the name of the server values: </a:t>
            </a:r>
          </a:p>
          <a:p>
            <a:pPr lvl="1"/>
            <a:r>
              <a:rPr lang="en-US" dirty="0"/>
              <a:t>Enter the “</a:t>
            </a:r>
            <a:r>
              <a:rPr lang="en-US" dirty="0" err="1"/>
              <a:t>tak</a:t>
            </a:r>
            <a:r>
              <a:rPr lang="en-US" dirty="0"/>
              <a:t>” user	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su</a:t>
            </a:r>
            <a:r>
              <a:rPr lang="en-US" b="1" dirty="0"/>
              <a:t> </a:t>
            </a:r>
            <a:r>
              <a:rPr lang="en-US" b="1" dirty="0" err="1"/>
              <a:t>tak</a:t>
            </a:r>
            <a:endParaRPr lang="en-US" b="1" dirty="0"/>
          </a:p>
          <a:p>
            <a:pPr lvl="1"/>
            <a:r>
              <a:rPr lang="en-US" dirty="0"/>
              <a:t>Change the directory to the </a:t>
            </a:r>
            <a:r>
              <a:rPr lang="en-US" dirty="0" err="1"/>
              <a:t>tak</a:t>
            </a:r>
            <a:r>
              <a:rPr lang="en-US" dirty="0"/>
              <a:t> directory </a:t>
            </a:r>
          </a:p>
          <a:p>
            <a:pPr lvl="2"/>
            <a:r>
              <a:rPr lang="en-US" b="1" dirty="0"/>
              <a:t>cd /opt/</a:t>
            </a:r>
            <a:r>
              <a:rPr lang="en-US" b="1" dirty="0" err="1"/>
              <a:t>tak</a:t>
            </a:r>
            <a:endParaRPr lang="en-US" b="1" dirty="0"/>
          </a:p>
          <a:p>
            <a:pPr lvl="1"/>
            <a:r>
              <a:rPr lang="en-US" dirty="0"/>
              <a:t>Edit the CoreConfig.xml file</a:t>
            </a:r>
          </a:p>
          <a:p>
            <a:pPr lvl="2"/>
            <a:r>
              <a:rPr lang="en-US" b="1" dirty="0"/>
              <a:t>vi CoreConfig.xml</a:t>
            </a:r>
          </a:p>
          <a:p>
            <a:pPr lvl="2"/>
            <a:r>
              <a:rPr lang="en-US" dirty="0"/>
              <a:t>Scroll down to find the following: </a:t>
            </a:r>
          </a:p>
          <a:p>
            <a:pPr lvl="3"/>
            <a:r>
              <a:rPr lang="en-US" dirty="0"/>
              <a:t>modify the “TAK” value to your desired output.</a:t>
            </a:r>
          </a:p>
          <a:p>
            <a:pPr lvl="3"/>
            <a:r>
              <a:rPr lang="en-US" dirty="0"/>
              <a:t>O = Organization</a:t>
            </a:r>
          </a:p>
          <a:p>
            <a:pPr lvl="3"/>
            <a:r>
              <a:rPr lang="en-US" dirty="0"/>
              <a:t>OU = Organization Unit</a:t>
            </a:r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FD5172-5C2F-309D-0D4A-0750CEF89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873" y="4897974"/>
            <a:ext cx="5369936" cy="154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37180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F6950-3CC1-6DD5-C6C7-18F1929EC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Certificate Auto Enrollment - Command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5DECB-44C4-3028-B91B-ACEA0EB0D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77" y="1480008"/>
            <a:ext cx="11726945" cy="4696955"/>
          </a:xfrm>
        </p:spPr>
        <p:txBody>
          <a:bodyPr>
            <a:normAutofit/>
          </a:bodyPr>
          <a:lstStyle/>
          <a:p>
            <a:r>
              <a:rPr lang="en-US" dirty="0"/>
              <a:t>In the same text editor, we need to add </a:t>
            </a:r>
            <a:r>
              <a:rPr lang="en-US" dirty="0" err="1"/>
              <a:t>CAkey</a:t>
            </a:r>
            <a:r>
              <a:rPr lang="en-US" dirty="0"/>
              <a:t> and </a:t>
            </a:r>
            <a:r>
              <a:rPr lang="en-US" dirty="0" err="1"/>
              <a:t>CAcertificate</a:t>
            </a:r>
            <a:r>
              <a:rPr lang="en-US" dirty="0"/>
              <a:t> to the </a:t>
            </a:r>
            <a:r>
              <a:rPr lang="en-US" dirty="0" err="1"/>
              <a:t>TAKServerCAConfig</a:t>
            </a:r>
            <a:r>
              <a:rPr lang="en-US" dirty="0"/>
              <a:t> line to support </a:t>
            </a:r>
            <a:r>
              <a:rPr lang="en-US" dirty="0" err="1"/>
              <a:t>revokations</a:t>
            </a:r>
            <a:r>
              <a:rPr lang="en-US" dirty="0"/>
              <a:t>.</a:t>
            </a:r>
          </a:p>
          <a:p>
            <a:pPr lvl="1"/>
            <a:r>
              <a:rPr lang="en-US" sz="2000" b="1" dirty="0"/>
              <a:t>&lt;</a:t>
            </a:r>
            <a:r>
              <a:rPr lang="en-US" sz="2000" b="1" dirty="0" err="1"/>
              <a:t>TAKServerCAConfig</a:t>
            </a:r>
            <a:r>
              <a:rPr lang="en-US" sz="2000" b="1" dirty="0"/>
              <a:t> keystore="JKS" </a:t>
            </a:r>
            <a:r>
              <a:rPr lang="en-US" sz="2000" b="1" dirty="0" err="1"/>
              <a:t>keystoreFile</a:t>
            </a:r>
            <a:r>
              <a:rPr lang="en-US" sz="2000" b="1" dirty="0"/>
              <a:t>="certs/files/TAK-ID-CA-01-signing.jks" </a:t>
            </a:r>
            <a:r>
              <a:rPr lang="en-US" sz="2000" b="1" dirty="0" err="1"/>
              <a:t>keystorePass</a:t>
            </a:r>
            <a:r>
              <a:rPr lang="en-US" sz="2000" b="1" dirty="0"/>
              <a:t>="</a:t>
            </a:r>
            <a:r>
              <a:rPr lang="en-US" sz="2000" b="1" dirty="0" err="1"/>
              <a:t>atakatak</a:t>
            </a:r>
            <a:r>
              <a:rPr lang="en-US" sz="2000" b="1" dirty="0"/>
              <a:t>" </a:t>
            </a:r>
            <a:r>
              <a:rPr lang="en-US" sz="2000" b="1" dirty="0" err="1"/>
              <a:t>validityDays</a:t>
            </a:r>
            <a:r>
              <a:rPr lang="en-US" sz="2000" b="1" dirty="0"/>
              <a:t>="30" </a:t>
            </a:r>
            <a:r>
              <a:rPr lang="en-US" sz="2000" b="1" dirty="0" err="1"/>
              <a:t>signatureAlg</a:t>
            </a:r>
            <a:r>
              <a:rPr lang="en-US" sz="2000" b="1" dirty="0"/>
              <a:t>="SHA256WithRSA" </a:t>
            </a:r>
            <a:r>
              <a:rPr lang="en-US" sz="2000" b="1" dirty="0" err="1"/>
              <a:t>CAkey</a:t>
            </a:r>
            <a:r>
              <a:rPr lang="en-US" sz="2000" b="1" dirty="0"/>
              <a:t>="/opt/</a:t>
            </a:r>
            <a:r>
              <a:rPr lang="en-US" sz="2000" b="1" dirty="0" err="1"/>
              <a:t>tak</a:t>
            </a:r>
            <a:r>
              <a:rPr lang="en-US" sz="2000" b="1" dirty="0"/>
              <a:t>/certs/files/&lt;</a:t>
            </a:r>
            <a:r>
              <a:rPr lang="en-US" sz="2000" b="1" dirty="0" err="1"/>
              <a:t>CAcommonName</a:t>
            </a:r>
            <a:r>
              <a:rPr lang="en-US" sz="2000" b="1" dirty="0"/>
              <a:t>&gt;" </a:t>
            </a:r>
            <a:r>
              <a:rPr lang="en-US" sz="2000" b="1" dirty="0" err="1"/>
              <a:t>CAcertificate</a:t>
            </a:r>
            <a:r>
              <a:rPr lang="en-US" sz="2000" b="1" dirty="0"/>
              <a:t>="/opt/</a:t>
            </a:r>
            <a:r>
              <a:rPr lang="en-US" sz="2000" b="1" dirty="0" err="1"/>
              <a:t>tak</a:t>
            </a:r>
            <a:r>
              <a:rPr lang="en-US" sz="2000" b="1" dirty="0"/>
              <a:t>/certs/files/&lt;</a:t>
            </a:r>
            <a:r>
              <a:rPr lang="en-US" sz="2000" b="1" dirty="0" err="1"/>
              <a:t>CAcommonName</a:t>
            </a:r>
            <a:r>
              <a:rPr lang="en-US" sz="2000" b="1" dirty="0"/>
              <a:t>&gt;"/&gt;</a:t>
            </a:r>
          </a:p>
          <a:p>
            <a:pPr lvl="1"/>
            <a:endParaRPr lang="en-US" sz="2000" b="1" dirty="0"/>
          </a:p>
          <a:p>
            <a:pPr lvl="2"/>
            <a:r>
              <a:rPr lang="en-US" b="1" dirty="0"/>
              <a:t>Example: </a:t>
            </a:r>
            <a:r>
              <a:rPr lang="en-US" dirty="0"/>
              <a:t>&lt;</a:t>
            </a:r>
            <a:r>
              <a:rPr lang="en-US" dirty="0" err="1"/>
              <a:t>TAKServerCAConfig</a:t>
            </a:r>
            <a:r>
              <a:rPr lang="en-US" dirty="0"/>
              <a:t> keystore="JKS" </a:t>
            </a:r>
            <a:r>
              <a:rPr lang="en-US" dirty="0" err="1"/>
              <a:t>keystoreFile</a:t>
            </a:r>
            <a:r>
              <a:rPr lang="en-US" dirty="0"/>
              <a:t>="certs/files/TAK-ID-CA-01-signing.jks" </a:t>
            </a:r>
            <a:r>
              <a:rPr lang="en-US" dirty="0" err="1"/>
              <a:t>keystorePass</a:t>
            </a:r>
            <a:r>
              <a:rPr lang="en-US" dirty="0"/>
              <a:t>="</a:t>
            </a:r>
            <a:r>
              <a:rPr lang="en-US" dirty="0" err="1"/>
              <a:t>atakatak</a:t>
            </a:r>
            <a:r>
              <a:rPr lang="en-US" dirty="0"/>
              <a:t>" </a:t>
            </a:r>
            <a:r>
              <a:rPr lang="en-US" dirty="0" err="1"/>
              <a:t>validityDays</a:t>
            </a:r>
            <a:r>
              <a:rPr lang="en-US" dirty="0"/>
              <a:t>="30" </a:t>
            </a:r>
            <a:r>
              <a:rPr lang="en-US" dirty="0" err="1"/>
              <a:t>signatureAlg</a:t>
            </a:r>
            <a:r>
              <a:rPr lang="en-US" dirty="0"/>
              <a:t>="SHA256WithRSA" </a:t>
            </a:r>
            <a:r>
              <a:rPr lang="en-US" dirty="0" err="1"/>
              <a:t>CAkey</a:t>
            </a:r>
            <a:r>
              <a:rPr lang="en-US" dirty="0"/>
              <a:t>="/opt/</a:t>
            </a:r>
            <a:r>
              <a:rPr lang="en-US" dirty="0" err="1"/>
              <a:t>tak</a:t>
            </a:r>
            <a:r>
              <a:rPr lang="en-US" dirty="0"/>
              <a:t>/certs/files/TAK-ID-CA-01" </a:t>
            </a:r>
            <a:r>
              <a:rPr lang="en-US" dirty="0" err="1"/>
              <a:t>CAcertificate</a:t>
            </a:r>
            <a:r>
              <a:rPr lang="en-US" dirty="0"/>
              <a:t>="/opt/</a:t>
            </a:r>
            <a:r>
              <a:rPr lang="en-US" dirty="0" err="1"/>
              <a:t>tak</a:t>
            </a:r>
            <a:r>
              <a:rPr lang="en-US" dirty="0"/>
              <a:t>/certs/files/TAK-ID-CA-01"/&gt;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BAB21B-9533-CEFC-F519-70150DB2E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0" y="5377992"/>
            <a:ext cx="12096160" cy="3417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44023E-CD72-8500-C45B-BCEE511A2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3877" y="5902243"/>
            <a:ext cx="9278645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266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F8150-8B19-9F2A-7761-F0C663356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Certificate Auto Enrollment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8078E-CF28-F410-A029-B9B123219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Lastly we need to add the following line to our &lt;auth&gt; element: </a:t>
            </a:r>
          </a:p>
          <a:p>
            <a:pPr lvl="1"/>
            <a:r>
              <a:rPr lang="en-US" b="1" dirty="0"/>
              <a:t>x509checkRevocation=“true”</a:t>
            </a:r>
          </a:p>
          <a:p>
            <a:r>
              <a:rPr lang="en-US" dirty="0"/>
              <a:t>Save and Exit</a:t>
            </a:r>
          </a:p>
          <a:p>
            <a:r>
              <a:rPr lang="en-US" dirty="0"/>
              <a:t>To verify our changes run the following:</a:t>
            </a:r>
          </a:p>
          <a:p>
            <a:pPr lvl="1"/>
            <a:r>
              <a:rPr lang="en-US" b="1" dirty="0"/>
              <a:t>./validateConfig.sh</a:t>
            </a:r>
          </a:p>
          <a:p>
            <a:r>
              <a:rPr lang="en-US" dirty="0"/>
              <a:t>Exit the </a:t>
            </a:r>
            <a:r>
              <a:rPr lang="en-US" dirty="0" err="1"/>
              <a:t>tak</a:t>
            </a:r>
            <a:r>
              <a:rPr lang="en-US" dirty="0"/>
              <a:t> user</a:t>
            </a:r>
          </a:p>
          <a:p>
            <a:pPr lvl="1"/>
            <a:r>
              <a:rPr lang="en-US" b="1" dirty="0"/>
              <a:t>exit </a:t>
            </a:r>
          </a:p>
          <a:p>
            <a:r>
              <a:rPr lang="en-US" dirty="0"/>
              <a:t>Restart the </a:t>
            </a:r>
            <a:r>
              <a:rPr lang="en-US" dirty="0" err="1"/>
              <a:t>takserver.service</a:t>
            </a:r>
            <a:r>
              <a:rPr lang="en-US" dirty="0"/>
              <a:t> 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systemctl</a:t>
            </a:r>
            <a:r>
              <a:rPr lang="en-US" b="1" dirty="0"/>
              <a:t> restart </a:t>
            </a:r>
            <a:r>
              <a:rPr lang="en-US" b="1" dirty="0" err="1"/>
              <a:t>takserver.service</a:t>
            </a:r>
            <a:endParaRPr lang="en-US" b="1" dirty="0"/>
          </a:p>
          <a:p>
            <a:r>
              <a:rPr lang="en-US" dirty="0"/>
              <a:t>Monitor the logs for errors</a:t>
            </a:r>
          </a:p>
          <a:p>
            <a:pPr lvl="1"/>
            <a:r>
              <a:rPr lang="en-US" b="1" dirty="0"/>
              <a:t>tail -f /opt/</a:t>
            </a:r>
            <a:r>
              <a:rPr lang="en-US" b="1" dirty="0" err="1"/>
              <a:t>tak</a:t>
            </a:r>
            <a:r>
              <a:rPr lang="en-US" b="1" dirty="0"/>
              <a:t>/logs/takserver-messaging.log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A82A45-B85F-8DB2-BEF1-ECE74649E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264" y="2389543"/>
            <a:ext cx="5442408" cy="6855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695D41-2FA7-DF48-CF2B-9E2BCFDAB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4697" y="3717734"/>
            <a:ext cx="2056734" cy="71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640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7BFC8-2086-238B-52BB-55E2B3845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Enrolling Clients with Auto Enrollment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F23D0-6A0C-66FE-2AFC-BF0DF31A2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2301"/>
            <a:ext cx="10515600" cy="47346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the admin dashboard open the following: Hamburger menu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Administrative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Manage Users</a:t>
            </a:r>
          </a:p>
          <a:p>
            <a:r>
              <a:rPr lang="en-US" dirty="0"/>
              <a:t>Click on “Add User” </a:t>
            </a:r>
          </a:p>
          <a:p>
            <a:pPr lvl="1"/>
            <a:r>
              <a:rPr lang="en-US" dirty="0"/>
              <a:t>fill in the details and select “Create New User”</a:t>
            </a:r>
          </a:p>
          <a:p>
            <a:r>
              <a:rPr lang="en-US" dirty="0"/>
              <a:t>The certificate enrollment process is communicated to the server over TCP port 8446, which is not enabled by default.</a:t>
            </a:r>
          </a:p>
          <a:p>
            <a:pPr lvl="1"/>
            <a:r>
              <a:rPr lang="en-US" dirty="0"/>
              <a:t>Check if the port is already enabled: 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firewall-</a:t>
            </a:r>
            <a:r>
              <a:rPr lang="en-US" b="1" dirty="0" err="1"/>
              <a:t>cmd</a:t>
            </a:r>
            <a:r>
              <a:rPr lang="en-US" b="1" dirty="0"/>
              <a:t> --list-all</a:t>
            </a:r>
          </a:p>
          <a:p>
            <a:pPr lvl="1"/>
            <a:r>
              <a:rPr lang="en-US" dirty="0"/>
              <a:t>Enable 8446 Certificate enrollment port.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firewall-</a:t>
            </a:r>
            <a:r>
              <a:rPr lang="en-US" b="1" dirty="0" err="1"/>
              <a:t>cmd</a:t>
            </a:r>
            <a:r>
              <a:rPr lang="en-US" b="1" dirty="0"/>
              <a:t> --zone=public --add-port 8446/</a:t>
            </a:r>
            <a:r>
              <a:rPr lang="en-US" b="1" dirty="0" err="1"/>
              <a:t>tcp</a:t>
            </a:r>
            <a:r>
              <a:rPr lang="en-US" b="1" dirty="0"/>
              <a:t> --permanent</a:t>
            </a:r>
          </a:p>
          <a:p>
            <a:pPr lvl="1"/>
            <a:r>
              <a:rPr lang="en-US" dirty="0"/>
              <a:t>Reload the firewall to apply the changes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firewall-</a:t>
            </a:r>
            <a:r>
              <a:rPr lang="en-US" b="1" dirty="0" err="1"/>
              <a:t>cmd</a:t>
            </a:r>
            <a:r>
              <a:rPr lang="en-US" b="1" dirty="0"/>
              <a:t> --reload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39B204-20FD-8076-42CA-08EA972E3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450" y="5924124"/>
            <a:ext cx="5877745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064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CCD75-9C7F-177C-9F0E-3FC365A2D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ATAK to TAK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A4A6A-62D7-2ACA-D3E9-7F530921E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447"/>
            <a:ext cx="10515600" cy="463798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Select the hamburger menu in the top right</a:t>
            </a:r>
          </a:p>
          <a:p>
            <a:r>
              <a:rPr lang="en-US" dirty="0"/>
              <a:t>Scroll down and select settings</a:t>
            </a:r>
          </a:p>
          <a:p>
            <a:r>
              <a:rPr lang="en-US" dirty="0"/>
              <a:t>Select “Network Preferences”</a:t>
            </a:r>
          </a:p>
          <a:p>
            <a:r>
              <a:rPr lang="en-US" dirty="0"/>
              <a:t>Select “Tak Servers”</a:t>
            </a:r>
          </a:p>
          <a:p>
            <a:r>
              <a:rPr lang="en-US" dirty="0"/>
              <a:t>In the top right select the three dots and then “Add”</a:t>
            </a:r>
          </a:p>
          <a:p>
            <a:pPr lvl="1"/>
            <a:r>
              <a:rPr lang="en-US" dirty="0"/>
              <a:t>Name:&lt;name you like for the server&gt;</a:t>
            </a:r>
          </a:p>
          <a:p>
            <a:pPr lvl="1"/>
            <a:r>
              <a:rPr lang="en-US" dirty="0"/>
              <a:t>Address:&lt;IP address&gt;</a:t>
            </a:r>
          </a:p>
          <a:p>
            <a:pPr lvl="1"/>
            <a:r>
              <a:rPr lang="en-US" dirty="0"/>
              <a:t>Enable “Enroll for Client Certificate” </a:t>
            </a:r>
          </a:p>
          <a:p>
            <a:pPr lvl="1"/>
            <a:r>
              <a:rPr lang="en-US" dirty="0"/>
              <a:t>Select “Ok”</a:t>
            </a:r>
          </a:p>
          <a:p>
            <a:pPr lvl="2"/>
            <a:r>
              <a:rPr lang="en-US" dirty="0"/>
              <a:t>Note: If you are trying to connect to the TAK Server without setting up the public facing domain you need to pass the </a:t>
            </a:r>
            <a:r>
              <a:rPr lang="en-US" dirty="0" err="1"/>
              <a:t>truststore</a:t>
            </a:r>
            <a:r>
              <a:rPr lang="en-US" dirty="0"/>
              <a:t> cert as well or create a data package.</a:t>
            </a:r>
          </a:p>
          <a:p>
            <a:r>
              <a:rPr lang="en-US" dirty="0"/>
              <a:t>Enter in the user credentials that you create from the admin dashboard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14611B-58E0-6777-C914-AD272454A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062" y="1423447"/>
            <a:ext cx="2735734" cy="332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014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6B55C-C597-0979-C388-4ABF25677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 Certificate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9D012-0B60-7828-25DF-69482B4C2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874"/>
            <a:ext cx="10515600" cy="474408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Switch to the “</a:t>
            </a:r>
            <a:r>
              <a:rPr lang="en-US" dirty="0" err="1"/>
              <a:t>tak</a:t>
            </a:r>
            <a:r>
              <a:rPr lang="en-US" dirty="0"/>
              <a:t>” user 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su</a:t>
            </a:r>
            <a:r>
              <a:rPr lang="en-US" b="1" dirty="0"/>
              <a:t> </a:t>
            </a:r>
            <a:r>
              <a:rPr lang="en-US" b="1" dirty="0" err="1"/>
              <a:t>tak</a:t>
            </a:r>
            <a:endParaRPr lang="en-US" b="1" dirty="0"/>
          </a:p>
          <a:p>
            <a:r>
              <a:rPr lang="en-US" dirty="0"/>
              <a:t>navigate to the cert's directory</a:t>
            </a:r>
          </a:p>
          <a:p>
            <a:pPr lvl="1"/>
            <a:r>
              <a:rPr lang="en-US" b="1" dirty="0"/>
              <a:t>cd /opt/</a:t>
            </a:r>
            <a:r>
              <a:rPr lang="en-US" b="1" dirty="0" err="1"/>
              <a:t>tak</a:t>
            </a:r>
            <a:r>
              <a:rPr lang="en-US" b="1" dirty="0"/>
              <a:t>/certs</a:t>
            </a:r>
          </a:p>
          <a:p>
            <a:r>
              <a:rPr lang="en-US" dirty="0"/>
              <a:t>Create client certificate</a:t>
            </a:r>
          </a:p>
          <a:p>
            <a:pPr lvl="1"/>
            <a:r>
              <a:rPr lang="en-US" b="1" dirty="0"/>
              <a:t>./makeCert.sh client &lt;</a:t>
            </a:r>
            <a:r>
              <a:rPr lang="en-US" b="1" dirty="0" err="1"/>
              <a:t>ClientName</a:t>
            </a:r>
            <a:r>
              <a:rPr lang="en-US" b="1" dirty="0"/>
              <a:t>&gt;</a:t>
            </a:r>
          </a:p>
          <a:p>
            <a:pPr lvl="2"/>
            <a:r>
              <a:rPr lang="en-US" dirty="0"/>
              <a:t>Example: ./makeCert.sh client </a:t>
            </a:r>
            <a:r>
              <a:rPr lang="en-US" dirty="0" err="1"/>
              <a:t>wintak</a:t>
            </a:r>
            <a:endParaRPr lang="en-US" dirty="0"/>
          </a:p>
          <a:p>
            <a:r>
              <a:rPr lang="en-US" dirty="0"/>
              <a:t>Add the client to a group</a:t>
            </a:r>
          </a:p>
          <a:p>
            <a:pPr lvl="1"/>
            <a:r>
              <a:rPr lang="en-US" b="1" dirty="0"/>
              <a:t>java -jar /opt/</a:t>
            </a:r>
            <a:r>
              <a:rPr lang="en-US" b="1" dirty="0" err="1"/>
              <a:t>tak</a:t>
            </a:r>
            <a:r>
              <a:rPr lang="en-US" b="1" dirty="0"/>
              <a:t>/utils/UserManager.jar </a:t>
            </a:r>
            <a:r>
              <a:rPr lang="en-US" b="1" dirty="0" err="1"/>
              <a:t>certmod</a:t>
            </a:r>
            <a:r>
              <a:rPr lang="en-US" b="1" dirty="0"/>
              <a:t> -g __ANON__ /opt/</a:t>
            </a:r>
            <a:r>
              <a:rPr lang="en-US" b="1" dirty="0" err="1"/>
              <a:t>tak</a:t>
            </a:r>
            <a:r>
              <a:rPr lang="en-US" b="1" dirty="0"/>
              <a:t>/certs/files/&lt;</a:t>
            </a:r>
            <a:r>
              <a:rPr lang="en-US" b="1" dirty="0" err="1"/>
              <a:t>commonName</a:t>
            </a:r>
            <a:r>
              <a:rPr lang="en-US" b="1" dirty="0"/>
              <a:t>&gt;</a:t>
            </a:r>
          </a:p>
          <a:p>
            <a:pPr lvl="2"/>
            <a:r>
              <a:rPr lang="en-US" b="1" dirty="0"/>
              <a:t>Example: </a:t>
            </a:r>
            <a:r>
              <a:rPr lang="en-US" dirty="0"/>
              <a:t>java -jar /opt/</a:t>
            </a:r>
            <a:r>
              <a:rPr lang="en-US" dirty="0" err="1"/>
              <a:t>tak</a:t>
            </a:r>
            <a:r>
              <a:rPr lang="en-US" dirty="0"/>
              <a:t>/utils/UserManager.jar </a:t>
            </a:r>
            <a:r>
              <a:rPr lang="en-US" dirty="0" err="1"/>
              <a:t>certmod</a:t>
            </a:r>
            <a:r>
              <a:rPr lang="en-US" dirty="0"/>
              <a:t> -g __ANON__ /opt/</a:t>
            </a:r>
            <a:r>
              <a:rPr lang="en-US" dirty="0" err="1"/>
              <a:t>tak</a:t>
            </a:r>
            <a:r>
              <a:rPr lang="en-US" dirty="0"/>
              <a:t>/certs/files/</a:t>
            </a:r>
            <a:r>
              <a:rPr lang="en-US" dirty="0" err="1"/>
              <a:t>wintak.pem</a:t>
            </a:r>
            <a:endParaRPr lang="en-US" dirty="0"/>
          </a:p>
          <a:p>
            <a:pPr lvl="2"/>
            <a:r>
              <a:rPr lang="en-US" dirty="0"/>
              <a:t>We need to place them in a group or else they will not be available in the dashboard.</a:t>
            </a:r>
          </a:p>
          <a:p>
            <a:pPr lvl="1"/>
            <a:r>
              <a:rPr lang="en-US" dirty="0"/>
              <a:t>If you would like to create a new group for the user, you can replace “__ANON__” with the new group  </a:t>
            </a:r>
          </a:p>
        </p:txBody>
      </p:sp>
    </p:spTree>
    <p:extLst>
      <p:ext uri="{BB962C8B-B14F-4D97-AF65-F5344CB8AC3E}">
        <p14:creationId xmlns:p14="http://schemas.microsoft.com/office/powerpoint/2010/main" val="18219144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6F5FE-84AB-C424-09AB-61D5CD7F8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 Certificate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1FF33-EE4F-8F82-9F8D-C562F0DA2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741"/>
            <a:ext cx="10515600" cy="4214959"/>
          </a:xfrm>
        </p:spPr>
        <p:txBody>
          <a:bodyPr>
            <a:normAutofit fontScale="92500"/>
          </a:bodyPr>
          <a:lstStyle/>
          <a:p>
            <a:r>
              <a:rPr lang="en-US" dirty="0"/>
              <a:t>Copy the files to move to our admin workstation</a:t>
            </a:r>
          </a:p>
          <a:p>
            <a:pPr lvl="1"/>
            <a:r>
              <a:rPr lang="en-US" dirty="0"/>
              <a:t>Exit the </a:t>
            </a:r>
            <a:r>
              <a:rPr lang="en-US" dirty="0" err="1"/>
              <a:t>tak</a:t>
            </a:r>
            <a:r>
              <a:rPr lang="en-US" dirty="0"/>
              <a:t> user</a:t>
            </a:r>
          </a:p>
          <a:p>
            <a:pPr lvl="2"/>
            <a:r>
              <a:rPr lang="en-US" b="1" dirty="0"/>
              <a:t>exit</a:t>
            </a:r>
          </a:p>
          <a:p>
            <a:pPr lvl="1"/>
            <a:r>
              <a:rPr lang="en-US" dirty="0"/>
              <a:t>Change the directory to the home directory</a:t>
            </a:r>
          </a:p>
          <a:p>
            <a:pPr lvl="2"/>
            <a:r>
              <a:rPr lang="en-US" b="1" dirty="0"/>
              <a:t>cd ~</a:t>
            </a:r>
          </a:p>
          <a:p>
            <a:pPr lvl="1"/>
            <a:r>
              <a:rPr lang="en-US" dirty="0"/>
              <a:t>Copy our client and public CA certificates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cp -v /opt/</a:t>
            </a:r>
            <a:r>
              <a:rPr lang="en-US" b="1" dirty="0" err="1"/>
              <a:t>tak</a:t>
            </a:r>
            <a:r>
              <a:rPr lang="en-US" b="1" dirty="0"/>
              <a:t>/certs/files/wintak.p12 .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cp -v /opt/</a:t>
            </a:r>
            <a:r>
              <a:rPr lang="en-US" b="1" dirty="0" err="1"/>
              <a:t>tak</a:t>
            </a:r>
            <a:r>
              <a:rPr lang="en-US" b="1" dirty="0"/>
              <a:t>/certs/files/</a:t>
            </a:r>
            <a:r>
              <a:rPr lang="en-US" b="1" dirty="0" err="1"/>
              <a:t>truststore</a:t>
            </a:r>
            <a:r>
              <a:rPr lang="en-US" b="1" dirty="0"/>
              <a:t>-&lt;public CA name&gt;.p12 .</a:t>
            </a:r>
          </a:p>
          <a:p>
            <a:pPr lvl="3"/>
            <a:r>
              <a:rPr lang="en-US" b="1" dirty="0"/>
              <a:t>Example: </a:t>
            </a:r>
            <a:r>
              <a:rPr lang="en-US" dirty="0" err="1"/>
              <a:t>sudo</a:t>
            </a:r>
            <a:r>
              <a:rPr lang="en-US" dirty="0"/>
              <a:t> cp -v /opt/</a:t>
            </a:r>
            <a:r>
              <a:rPr lang="en-US" dirty="0" err="1"/>
              <a:t>tak</a:t>
            </a:r>
            <a:r>
              <a:rPr lang="en-US" dirty="0"/>
              <a:t>/certs/files/truststore-TAK-ID-CA-01.p12 .</a:t>
            </a:r>
          </a:p>
          <a:p>
            <a:pPr lvl="2"/>
            <a:r>
              <a:rPr lang="en-US" dirty="0"/>
              <a:t>Note: if you already have the </a:t>
            </a:r>
            <a:r>
              <a:rPr lang="en-US" dirty="0" err="1"/>
              <a:t>truststore</a:t>
            </a:r>
            <a:r>
              <a:rPr lang="en-US" dirty="0"/>
              <a:t> cert downloaded you do not need to do it again. </a:t>
            </a:r>
          </a:p>
          <a:p>
            <a:pPr lvl="1"/>
            <a:r>
              <a:rPr lang="en-US" dirty="0"/>
              <a:t>Restore ownership of the files to the home directory.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chown</a:t>
            </a:r>
            <a:r>
              <a:rPr lang="en-US" b="1" dirty="0"/>
              <a:t> -R </a:t>
            </a:r>
            <a:r>
              <a:rPr lang="en-US" b="1" dirty="0" err="1"/>
              <a:t>takadmin:takadmin</a:t>
            </a:r>
            <a:r>
              <a:rPr lang="en-US" b="1" dirty="0"/>
              <a:t> /home/</a:t>
            </a:r>
            <a:r>
              <a:rPr lang="en-US" b="1" dirty="0" err="1"/>
              <a:t>takadmin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69BF55-727A-B5F5-EEEF-21378A2DF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569" y="5550121"/>
            <a:ext cx="5553878" cy="130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347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0D4F5-1DB7-7707-D110-E34E3B084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 Certificate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1512D-F973-DE50-9DE8-FC5EA1F25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615"/>
            <a:ext cx="10515600" cy="4594348"/>
          </a:xfrm>
        </p:spPr>
        <p:txBody>
          <a:bodyPr/>
          <a:lstStyle/>
          <a:p>
            <a:r>
              <a:rPr lang="en-US" dirty="0"/>
              <a:t>Download the files from your Linux machine to your local machine. </a:t>
            </a:r>
          </a:p>
          <a:p>
            <a:r>
              <a:rPr lang="en-US" dirty="0"/>
              <a:t>Navigate to the folder location you want to certificates to be stored and open a terminal at this location. </a:t>
            </a:r>
          </a:p>
          <a:p>
            <a:r>
              <a:rPr lang="en-US" dirty="0"/>
              <a:t>Copy over the files:</a:t>
            </a:r>
          </a:p>
          <a:p>
            <a:pPr lvl="1"/>
            <a:r>
              <a:rPr lang="en-US" b="1" dirty="0" err="1"/>
              <a:t>scp</a:t>
            </a:r>
            <a:r>
              <a:rPr lang="en-US" b="1" dirty="0"/>
              <a:t> &lt;username&gt;@&lt;IP address&gt;:~/&lt;file&gt; .</a:t>
            </a:r>
          </a:p>
          <a:p>
            <a:pPr lvl="2"/>
            <a:r>
              <a:rPr lang="en-US" b="1" dirty="0"/>
              <a:t>Example: </a:t>
            </a:r>
            <a:r>
              <a:rPr lang="en-US" dirty="0" err="1"/>
              <a:t>scp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takadmin@192.168.1.104:~/wintak.p12</a:t>
            </a:r>
            <a:r>
              <a:rPr lang="en-US" dirty="0"/>
              <a:t> . </a:t>
            </a:r>
          </a:p>
          <a:p>
            <a:pPr lvl="2"/>
            <a:r>
              <a:rPr lang="en-US" b="1" dirty="0"/>
              <a:t>Example: </a:t>
            </a:r>
            <a:r>
              <a:rPr lang="en-US" dirty="0" err="1"/>
              <a:t>scp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takadmin@192.168.1.104:~/</a:t>
            </a:r>
            <a:r>
              <a:rPr lang="en-US" dirty="0" err="1">
                <a:hlinkClick r:id="rId4"/>
              </a:rPr>
              <a:t>truststore</a:t>
            </a:r>
            <a:r>
              <a:rPr lang="en-US" dirty="0">
                <a:hlinkClick r:id="rId4"/>
              </a:rPr>
              <a:t>-*.p12</a:t>
            </a:r>
            <a:r>
              <a:rPr lang="en-US" dirty="0"/>
              <a:t> 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F671ED-F6E9-6811-AA99-7FE0ACB145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5889" y="4981821"/>
            <a:ext cx="8040222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87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EE6F3-B6E3-E7EB-0F68-27A1FE803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 Certificate Management - Connecting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36B7D-411F-248C-D40F-1DD3E7A7F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6577"/>
            <a:ext cx="7769469" cy="4550386"/>
          </a:xfrm>
        </p:spPr>
        <p:txBody>
          <a:bodyPr/>
          <a:lstStyle/>
          <a:p>
            <a:r>
              <a:rPr lang="en-US" dirty="0"/>
              <a:t>To connect to the TAK Server from a TAK device you will need both the client cert and the </a:t>
            </a:r>
            <a:r>
              <a:rPr lang="en-US" dirty="0" err="1"/>
              <a:t>truststore</a:t>
            </a:r>
            <a:r>
              <a:rPr lang="en-US" dirty="0"/>
              <a:t> cert downloaded on the device. </a:t>
            </a:r>
          </a:p>
          <a:p>
            <a:r>
              <a:rPr lang="en-US" dirty="0"/>
              <a:t>Once in the TAK devices “Manage Server Connections” section you will select “Add Item” </a:t>
            </a:r>
          </a:p>
          <a:p>
            <a:r>
              <a:rPr lang="en-US" dirty="0"/>
              <a:t>You will then fill in all the necessary information and import the certificate authority (</a:t>
            </a:r>
            <a:r>
              <a:rPr lang="en-US" dirty="0" err="1"/>
              <a:t>truststore</a:t>
            </a:r>
            <a:r>
              <a:rPr lang="en-US" dirty="0"/>
              <a:t> cert) and the client cert.</a:t>
            </a:r>
          </a:p>
          <a:p>
            <a:r>
              <a:rPr lang="en-US" dirty="0"/>
              <a:t>With both these certs you will not need to authenticate when connecting to the server.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9EAD57-3830-3949-8C22-DCA68B913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7669" y="1966638"/>
            <a:ext cx="3258005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67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51200-DEB3-77D2-6AC7-0E3389D6A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Revoking Certificates - Server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FA7C2-FA2B-AEC6-ACDF-254E67CDF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If the server is configured for certificate autoenrollment we can revoke certificates from the server dashboard. </a:t>
            </a:r>
          </a:p>
          <a:p>
            <a:pPr lvl="1"/>
            <a:r>
              <a:rPr lang="en-US" dirty="0"/>
              <a:t>From the server dashboard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hamburger menu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administrative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Client Certificates</a:t>
            </a:r>
          </a:p>
          <a:p>
            <a:pPr lvl="1"/>
            <a:r>
              <a:rPr lang="en-US" dirty="0"/>
              <a:t>You can check the certificates you want to revoke then select the “Revoke Selected” option at the top.</a:t>
            </a:r>
          </a:p>
          <a:p>
            <a:pPr lvl="2"/>
            <a:r>
              <a:rPr lang="en-US" dirty="0"/>
              <a:t>You can also go the cert you want to revoke and select revoke on the far right of that cert.</a:t>
            </a:r>
          </a:p>
          <a:p>
            <a:pPr lvl="1"/>
            <a:r>
              <a:rPr lang="en-US" dirty="0"/>
              <a:t>You will get a warning about the server needing to restart to update the CRL (Certificate Revocation List).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92B100-BBD5-E2EB-0721-FF5C817EC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9662" y="5427483"/>
            <a:ext cx="8196666" cy="143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11184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3D448-AB36-2DCD-F899-8B81B77DE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Revoking Certificates - Server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06878-0481-35EA-3B65-E6ACD8AD6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607"/>
            <a:ext cx="10515600" cy="4383464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/>
              <a:t>When the server restarts you can monitor the log file</a:t>
            </a:r>
            <a:br>
              <a:rPr lang="en-US" sz="2600" dirty="0"/>
            </a:br>
            <a:r>
              <a:rPr lang="en-US" sz="2600" dirty="0"/>
              <a:t> (takserver-messaging.log) to see the server revoking the client.</a:t>
            </a:r>
          </a:p>
          <a:p>
            <a:pPr lvl="1"/>
            <a:r>
              <a:rPr 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2024-01-17-20:26:27.758 [epollEventLoopGroup-4-1] ERROR c.b.m.nio.codec.impls.X509AuthCodec - X509 auth exception info: CN: </a:t>
            </a:r>
            <a:r>
              <a:rPr lang="en-US" sz="16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myTeckNet</a:t>
            </a:r>
            <a:r>
              <a:rPr 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. Message: </a:t>
            </a:r>
            <a:r>
              <a:rPr lang="en-US" sz="1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Attempt to use revoked certificate</a:t>
            </a:r>
            <a:r>
              <a:rPr 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 : OU=TAK,O=TAK,CN=</a:t>
            </a:r>
            <a:r>
              <a:rPr lang="en-US" sz="16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myTeckNet</a:t>
            </a:r>
            <a:br>
              <a:rPr 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</a:br>
            <a:r>
              <a:rPr lang="en-US" sz="16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com.bbn.marti.remote.exception.RevokedException</a:t>
            </a:r>
            <a:r>
              <a:rPr 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: Attempt to use revoked certificate : OU=TAK,O=TAK,CN=</a:t>
            </a:r>
            <a:r>
              <a:rPr lang="en-US" sz="16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myTeckNet</a:t>
            </a:r>
            <a:br>
              <a:rPr 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</a:br>
            <a:r>
              <a:rPr 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at com.bbn.marti.groups.X509Authenticator.auth(X509Authenticator.java:134)</a:t>
            </a:r>
            <a:br>
              <a:rPr 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</a:br>
            <a:r>
              <a:rPr 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...</a:t>
            </a:r>
          </a:p>
          <a:p>
            <a:pPr lvl="1"/>
            <a:r>
              <a:rPr 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2024-01-17-20:26:27.760 [epollEventLoopGroup-4-1] ERROR c.b.m.nio.codec.impls.X509AuthCodec - </a:t>
            </a:r>
            <a:r>
              <a:rPr lang="en-US" sz="16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TakException</a:t>
            </a:r>
            <a:r>
              <a:rPr 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 in </a:t>
            </a:r>
            <a:r>
              <a:rPr lang="en-US" sz="16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doTlsAuth</a:t>
            </a:r>
            <a:r>
              <a:rPr 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 Attempt to use revoked certificate : OU=TAK,O=TAK,CN=</a:t>
            </a:r>
            <a:r>
              <a:rPr lang="en-US" sz="16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myTeckNet</a:t>
            </a:r>
            <a:br>
              <a:rPr 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</a:br>
            <a:r>
              <a:rPr lang="en-US" sz="16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com.bbn.marti.remote.exception.RevokedException</a:t>
            </a:r>
            <a:r>
              <a:rPr 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: </a:t>
            </a:r>
            <a:r>
              <a:rPr lang="en-US" sz="1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Attempt to use revoked certificate</a:t>
            </a:r>
            <a:r>
              <a:rPr 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 : OU=TAK,O=TAK,CN=</a:t>
            </a:r>
            <a:r>
              <a:rPr lang="en-US" sz="16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myTeckNet</a:t>
            </a:r>
            <a:br>
              <a:rPr 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</a:br>
            <a:r>
              <a:rPr 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at com.bbn.marti.groups.X509Authenticator.auth(X509Authenticator.java:134)</a:t>
            </a:r>
          </a:p>
          <a:p>
            <a:r>
              <a:rPr lang="en-US" sz="2600" dirty="0"/>
              <a:t>You will also see the server attempt to add the client then immediately remove it, incrementing the “id=</a:t>
            </a:r>
            <a:r>
              <a:rPr lang="en-US" sz="2600" dirty="0" err="1"/>
              <a:t>tls</a:t>
            </a:r>
            <a:r>
              <a:rPr lang="en-US" sz="2600" dirty="0"/>
              <a:t>” every time.</a:t>
            </a:r>
          </a:p>
          <a:p>
            <a:pPr lvl="1"/>
            <a:r>
              <a:rPr 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2024-01-17-20:45:07.106 [epollEventLoopGroup-4-2] INFO </a:t>
            </a:r>
            <a:r>
              <a:rPr lang="en-US" sz="16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c.b.m.s.DistributedSubscriptionManager</a:t>
            </a:r>
            <a:r>
              <a:rPr 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 - Added Subscription: id=tls:19 source=192.168.178.177</a:t>
            </a:r>
          </a:p>
          <a:p>
            <a:pPr lvl="1"/>
            <a:r>
              <a:rPr 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2024-01-17-20:45:07.108 [takserver-scheduled-1] INFO </a:t>
            </a:r>
            <a:r>
              <a:rPr lang="en-US" sz="16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c.b.m.s.DistributedSubscriptionManager</a:t>
            </a:r>
            <a:r>
              <a:rPr 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 - Removed Subscription: tls:19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26E3E7-9AD4-4BA5-5C08-82595FF2B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234" y="5341143"/>
            <a:ext cx="7531531" cy="135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4381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00555-7837-A7FF-1E1B-275B34DBA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Certificate Revocation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DDB9F-080D-D716-A659-3C0776C3C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167"/>
            <a:ext cx="10515600" cy="4781796"/>
          </a:xfrm>
        </p:spPr>
        <p:txBody>
          <a:bodyPr/>
          <a:lstStyle/>
          <a:p>
            <a:r>
              <a:rPr lang="en-US" dirty="0"/>
              <a:t>View the contents of the CRL file</a:t>
            </a:r>
          </a:p>
          <a:p>
            <a:pPr lvl="1"/>
            <a:r>
              <a:rPr lang="en-US" b="1" dirty="0" err="1"/>
              <a:t>openssl</a:t>
            </a:r>
            <a:r>
              <a:rPr lang="en-US" b="1" dirty="0"/>
              <a:t> -</a:t>
            </a:r>
            <a:r>
              <a:rPr lang="en-US" b="1" dirty="0" err="1"/>
              <a:t>crl</a:t>
            </a:r>
            <a:r>
              <a:rPr lang="en-US" b="1" dirty="0"/>
              <a:t> -in /opt/</a:t>
            </a:r>
            <a:r>
              <a:rPr lang="en-US" b="1" dirty="0" err="1"/>
              <a:t>tak</a:t>
            </a:r>
            <a:r>
              <a:rPr lang="en-US" b="1" dirty="0"/>
              <a:t>/certs/files/</a:t>
            </a:r>
            <a:r>
              <a:rPr lang="en-US" b="1" dirty="0" err="1"/>
              <a:t>ca.crl</a:t>
            </a:r>
            <a:r>
              <a:rPr lang="en-US" b="1" dirty="0"/>
              <a:t> -inform PEM -text -</a:t>
            </a:r>
            <a:r>
              <a:rPr lang="en-US" b="1" dirty="0" err="1"/>
              <a:t>noout</a:t>
            </a:r>
            <a:r>
              <a:rPr lang="en-US" b="1" dirty="0"/>
              <a:t> </a:t>
            </a:r>
          </a:p>
          <a:p>
            <a:r>
              <a:rPr lang="en-US" dirty="0"/>
              <a:t>Search the list for a revoked certificate</a:t>
            </a:r>
          </a:p>
          <a:p>
            <a:pPr lvl="1"/>
            <a:r>
              <a:rPr lang="en-US" b="1" dirty="0" err="1"/>
              <a:t>openssl</a:t>
            </a:r>
            <a:r>
              <a:rPr lang="en-US" b="1" dirty="0"/>
              <a:t> -</a:t>
            </a:r>
            <a:r>
              <a:rPr lang="en-US" b="1" dirty="0" err="1"/>
              <a:t>crl</a:t>
            </a:r>
            <a:r>
              <a:rPr lang="en-US" b="1" dirty="0"/>
              <a:t> -in /opt/</a:t>
            </a:r>
            <a:r>
              <a:rPr lang="en-US" b="1" dirty="0" err="1"/>
              <a:t>tak</a:t>
            </a:r>
            <a:r>
              <a:rPr lang="en-US" b="1" dirty="0"/>
              <a:t>/certs/files/</a:t>
            </a:r>
            <a:r>
              <a:rPr lang="en-US" b="1" dirty="0" err="1"/>
              <a:t>ca.crl</a:t>
            </a:r>
            <a:r>
              <a:rPr lang="en-US" b="1" dirty="0"/>
              <a:t> -inform PEM -text -</a:t>
            </a:r>
            <a:r>
              <a:rPr lang="en-US" b="1" dirty="0" err="1"/>
              <a:t>noout</a:t>
            </a:r>
            <a:r>
              <a:rPr lang="en-US" b="1" dirty="0"/>
              <a:t> | grep &lt;</a:t>
            </a:r>
            <a:r>
              <a:rPr lang="en-US" b="1" dirty="0" err="1"/>
              <a:t>revokedSN</a:t>
            </a:r>
            <a:r>
              <a:rPr lang="en-US" b="1" dirty="0"/>
              <a:t>&gt;</a:t>
            </a:r>
          </a:p>
          <a:p>
            <a:pPr lvl="2"/>
            <a:r>
              <a:rPr lang="en-US" b="1" dirty="0"/>
              <a:t>Example: </a:t>
            </a:r>
            <a:r>
              <a:rPr lang="en-US" dirty="0" err="1"/>
              <a:t>openssl</a:t>
            </a:r>
            <a:r>
              <a:rPr lang="en-US" dirty="0"/>
              <a:t> -</a:t>
            </a:r>
            <a:r>
              <a:rPr lang="en-US" dirty="0" err="1"/>
              <a:t>crl</a:t>
            </a:r>
            <a:r>
              <a:rPr lang="en-US" dirty="0"/>
              <a:t> -in /opt/</a:t>
            </a:r>
            <a:r>
              <a:rPr lang="en-US" dirty="0" err="1"/>
              <a:t>tak</a:t>
            </a:r>
            <a:r>
              <a:rPr lang="en-US" dirty="0"/>
              <a:t>/certs/files/</a:t>
            </a:r>
            <a:r>
              <a:rPr lang="en-US" dirty="0" err="1"/>
              <a:t>ca.crl</a:t>
            </a:r>
            <a:r>
              <a:rPr lang="en-US" dirty="0"/>
              <a:t> -inform PEM -text -</a:t>
            </a:r>
            <a:r>
              <a:rPr lang="en-US" dirty="0" err="1"/>
              <a:t>noout</a:t>
            </a:r>
            <a:r>
              <a:rPr lang="en-US" dirty="0"/>
              <a:t> | grep 5D7DE36856929631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860628-0F7D-F6DE-5C38-552DDB0E7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0933" y="3928951"/>
            <a:ext cx="3830424" cy="278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34590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D4459-B1A0-3E65-104B-AE8132E73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Revoking Clients - Publish the Revoked Certificate - Command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FDF93-839F-BC1B-54F2-7F759E017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Switch to the </a:t>
            </a:r>
            <a:r>
              <a:rPr lang="en-US" dirty="0" err="1"/>
              <a:t>tak</a:t>
            </a:r>
            <a:r>
              <a:rPr lang="en-US" dirty="0"/>
              <a:t> user 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su</a:t>
            </a:r>
            <a:r>
              <a:rPr lang="en-US" b="1" dirty="0"/>
              <a:t> </a:t>
            </a:r>
            <a:r>
              <a:rPr lang="en-US" b="1" dirty="0" err="1"/>
              <a:t>tak</a:t>
            </a:r>
            <a:endParaRPr lang="en-US" b="1" dirty="0"/>
          </a:p>
          <a:p>
            <a:r>
              <a:rPr lang="en-US" dirty="0"/>
              <a:t>Change the directory to the </a:t>
            </a:r>
            <a:r>
              <a:rPr lang="en-US" dirty="0" err="1"/>
              <a:t>tak</a:t>
            </a:r>
            <a:r>
              <a:rPr lang="en-US" dirty="0"/>
              <a:t> directory </a:t>
            </a:r>
          </a:p>
          <a:p>
            <a:pPr lvl="1"/>
            <a:r>
              <a:rPr lang="en-US" b="1" dirty="0"/>
              <a:t>cd /opt/</a:t>
            </a:r>
            <a:r>
              <a:rPr lang="en-US" b="1" dirty="0" err="1"/>
              <a:t>tak</a:t>
            </a:r>
            <a:endParaRPr lang="en-US" b="1" dirty="0"/>
          </a:p>
          <a:p>
            <a:r>
              <a:rPr lang="en-US" dirty="0"/>
              <a:t>Edit the </a:t>
            </a:r>
            <a:r>
              <a:rPr lang="en-US" dirty="0" err="1"/>
              <a:t>CoreConfig</a:t>
            </a:r>
            <a:r>
              <a:rPr lang="en-US" dirty="0"/>
              <a:t> file</a:t>
            </a:r>
          </a:p>
          <a:p>
            <a:pPr lvl="1"/>
            <a:r>
              <a:rPr lang="en-US" b="1" dirty="0"/>
              <a:t>vi CoreConfig.xml</a:t>
            </a:r>
          </a:p>
          <a:p>
            <a:pPr lvl="2"/>
            <a:r>
              <a:rPr lang="en-US" dirty="0"/>
              <a:t>Look for the following area of code towards the bottom of the file.</a:t>
            </a:r>
          </a:p>
          <a:p>
            <a:pPr lvl="2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09A986-B15A-BCE0-7ED0-D8862B693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42055"/>
            <a:ext cx="12192000" cy="72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97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C9F9E-DAE3-A937-B507-38B139986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Revoking Clients - Publish the Revoked Certificate - Command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89FA5-A975-DC0D-42B4-48D9D602C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3130"/>
            <a:ext cx="10515600" cy="4583833"/>
          </a:xfrm>
        </p:spPr>
        <p:txBody>
          <a:bodyPr/>
          <a:lstStyle/>
          <a:p>
            <a:r>
              <a:rPr lang="en-US" dirty="0"/>
              <a:t>At the end of the “</a:t>
            </a:r>
            <a:r>
              <a:rPr lang="en-US" dirty="0" err="1"/>
              <a:t>tls</a:t>
            </a:r>
            <a:r>
              <a:rPr lang="en-US" dirty="0"/>
              <a:t>” line remove the “/”. </a:t>
            </a:r>
          </a:p>
          <a:p>
            <a:pPr lvl="1"/>
            <a:r>
              <a:rPr lang="en-US" dirty="0"/>
              <a:t>On a new line add the following line of code: </a:t>
            </a:r>
          </a:p>
          <a:p>
            <a:pPr lvl="2"/>
            <a:r>
              <a:rPr lang="en-US" b="1" dirty="0"/>
              <a:t>&lt;</a:t>
            </a:r>
            <a:r>
              <a:rPr lang="en-US" b="1" dirty="0" err="1"/>
              <a:t>crl</a:t>
            </a:r>
            <a:r>
              <a:rPr lang="en-US" b="1" dirty="0"/>
              <a:t> _name=“</a:t>
            </a:r>
            <a:r>
              <a:rPr lang="en-US" b="1" dirty="0" err="1"/>
              <a:t>TAKServer</a:t>
            </a:r>
            <a:r>
              <a:rPr lang="en-US" b="1" dirty="0"/>
              <a:t> CA” </a:t>
            </a:r>
            <a:r>
              <a:rPr lang="en-US" b="1" dirty="0" err="1"/>
              <a:t>crlFile</a:t>
            </a:r>
            <a:r>
              <a:rPr lang="en-US" b="1" dirty="0"/>
              <a:t>=“certs/files/&lt;your CA&gt;.</a:t>
            </a:r>
            <a:r>
              <a:rPr lang="en-US" b="1" dirty="0" err="1"/>
              <a:t>crl</a:t>
            </a:r>
            <a:r>
              <a:rPr lang="en-US" b="1" dirty="0"/>
              <a:t>”/&gt;</a:t>
            </a:r>
          </a:p>
          <a:p>
            <a:pPr lvl="3"/>
            <a:r>
              <a:rPr lang="en-US" b="1" dirty="0"/>
              <a:t>Example: </a:t>
            </a:r>
            <a:r>
              <a:rPr lang="en-US" dirty="0"/>
              <a:t>&lt;</a:t>
            </a:r>
            <a:r>
              <a:rPr lang="en-US" dirty="0" err="1"/>
              <a:t>crl</a:t>
            </a:r>
            <a:r>
              <a:rPr lang="en-US" dirty="0"/>
              <a:t> _name=“</a:t>
            </a:r>
            <a:r>
              <a:rPr lang="en-US" dirty="0" err="1"/>
              <a:t>TAKServer</a:t>
            </a:r>
            <a:r>
              <a:rPr lang="en-US" dirty="0"/>
              <a:t> CA” </a:t>
            </a:r>
            <a:r>
              <a:rPr lang="en-US" dirty="0" err="1"/>
              <a:t>crlFile</a:t>
            </a:r>
            <a:r>
              <a:rPr lang="en-US" dirty="0"/>
              <a:t>=“certs/files/TAK-ID-CA-01.crl”/&gt;</a:t>
            </a:r>
          </a:p>
          <a:p>
            <a:pPr lvl="1"/>
            <a:r>
              <a:rPr lang="en-US" dirty="0"/>
              <a:t>Add a closing statement for </a:t>
            </a:r>
            <a:r>
              <a:rPr lang="en-US" dirty="0" err="1"/>
              <a:t>tls</a:t>
            </a:r>
            <a:r>
              <a:rPr lang="en-US" dirty="0"/>
              <a:t> element on a new line.</a:t>
            </a:r>
          </a:p>
          <a:p>
            <a:pPr lvl="2"/>
            <a:r>
              <a:rPr lang="en-US" b="1" dirty="0"/>
              <a:t> &lt;/</a:t>
            </a:r>
            <a:r>
              <a:rPr lang="en-US" b="1" dirty="0" err="1"/>
              <a:t>tls</a:t>
            </a:r>
            <a:r>
              <a:rPr lang="en-US" b="1" dirty="0"/>
              <a:t>&gt; </a:t>
            </a:r>
          </a:p>
          <a:p>
            <a:pPr lvl="1"/>
            <a:r>
              <a:rPr lang="en-US" dirty="0"/>
              <a:t>Save and exit the file.</a:t>
            </a:r>
          </a:p>
          <a:p>
            <a:pPr lvl="2"/>
            <a:r>
              <a:rPr lang="en-US" dirty="0"/>
              <a:t>press the “esc” key</a:t>
            </a:r>
          </a:p>
          <a:p>
            <a:pPr lvl="2"/>
            <a:r>
              <a:rPr lang="en-US" dirty="0"/>
              <a:t>type the following: </a:t>
            </a:r>
          </a:p>
          <a:p>
            <a:pPr lvl="3"/>
            <a:r>
              <a:rPr lang="en-US" b="1" dirty="0"/>
              <a:t>:</a:t>
            </a:r>
            <a:r>
              <a:rPr lang="en-US" b="1" dirty="0" err="1"/>
              <a:t>wq</a:t>
            </a:r>
            <a:r>
              <a:rPr lang="en-US" b="1" dirty="0"/>
              <a:t>!</a:t>
            </a:r>
          </a:p>
          <a:p>
            <a:pPr lvl="3"/>
            <a:r>
              <a:rPr lang="en-US" dirty="0"/>
              <a:t>press enter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D059FA-A0DD-5D14-3B31-D866F35D1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05018"/>
            <a:ext cx="12192000" cy="105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268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E7A33-B7B7-8F24-D2EE-09834385E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Revoking Clients - Publish the Revoked Certificate - Command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E689A-8625-DA17-7949-A1B3697DC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Validate the file.</a:t>
            </a:r>
          </a:p>
          <a:p>
            <a:pPr lvl="1"/>
            <a:r>
              <a:rPr lang="en-US" b="1" dirty="0"/>
              <a:t>./validateConfig.sh</a:t>
            </a:r>
          </a:p>
          <a:p>
            <a:r>
              <a:rPr lang="en-US" dirty="0"/>
              <a:t>Once validated exit the </a:t>
            </a:r>
            <a:r>
              <a:rPr lang="en-US" dirty="0" err="1"/>
              <a:t>tak</a:t>
            </a:r>
            <a:r>
              <a:rPr lang="en-US" dirty="0"/>
              <a:t> user</a:t>
            </a:r>
          </a:p>
          <a:p>
            <a:pPr lvl="1"/>
            <a:r>
              <a:rPr lang="en-US" b="1" dirty="0"/>
              <a:t>exit</a:t>
            </a:r>
          </a:p>
          <a:p>
            <a:r>
              <a:rPr lang="en-US" dirty="0"/>
              <a:t>Restart the server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systemctl</a:t>
            </a:r>
            <a:r>
              <a:rPr lang="en-US" b="1" dirty="0"/>
              <a:t> restart </a:t>
            </a:r>
            <a:r>
              <a:rPr lang="en-US" b="1" dirty="0" err="1"/>
              <a:t>takserver.service</a:t>
            </a:r>
            <a:endParaRPr lang="en-US" b="1" dirty="0"/>
          </a:p>
          <a:p>
            <a:r>
              <a:rPr lang="en-US" dirty="0"/>
              <a:t>You can monitor the server on restart to verify there are no errors: 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tail -f /opt/</a:t>
            </a:r>
            <a:r>
              <a:rPr lang="en-US" b="1" dirty="0" err="1"/>
              <a:t>tak</a:t>
            </a:r>
            <a:r>
              <a:rPr lang="en-US" b="1" dirty="0"/>
              <a:t>/logs/takserver-messaging.log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3B05D3-E6AC-E29F-BD36-07F792512F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439" y="2042549"/>
            <a:ext cx="2541980" cy="61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8847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C1B4-D474-91E1-02BF-D0C179B36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Revoking Certificates - Command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18A54-FE7E-B5CD-9EF1-08385C1B5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96" y="1559859"/>
            <a:ext cx="10722204" cy="493301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Determine the certificate issuing signing certificate authority</a:t>
            </a:r>
          </a:p>
          <a:p>
            <a:pPr lvl="1"/>
            <a:r>
              <a:rPr lang="en-US" b="1" dirty="0" err="1"/>
              <a:t>openssl</a:t>
            </a:r>
            <a:r>
              <a:rPr lang="en-US" b="1" dirty="0"/>
              <a:t> x509 -text -in /opt/</a:t>
            </a:r>
            <a:r>
              <a:rPr lang="en-US" b="1" dirty="0" err="1"/>
              <a:t>tak</a:t>
            </a:r>
            <a:r>
              <a:rPr lang="en-US" b="1" dirty="0"/>
              <a:t>/certs/files/&lt;</a:t>
            </a:r>
            <a:r>
              <a:rPr lang="en-US" b="1" dirty="0" err="1"/>
              <a:t>commonName</a:t>
            </a:r>
            <a:r>
              <a:rPr lang="en-US" b="1" dirty="0"/>
              <a:t>&gt;.</a:t>
            </a:r>
            <a:r>
              <a:rPr lang="en-US" b="1" dirty="0" err="1"/>
              <a:t>pem</a:t>
            </a:r>
            <a:r>
              <a:rPr lang="en-US" b="1" dirty="0"/>
              <a:t> | grep -</a:t>
            </a:r>
            <a:r>
              <a:rPr lang="en-US" b="1" dirty="0" err="1"/>
              <a:t>Eo</a:t>
            </a:r>
            <a:r>
              <a:rPr lang="en-US" b="1" dirty="0"/>
              <a:t> "Issuer:.+“</a:t>
            </a:r>
          </a:p>
          <a:p>
            <a:pPr lvl="2"/>
            <a:r>
              <a:rPr lang="en-US" b="1" dirty="0"/>
              <a:t>Example: </a:t>
            </a:r>
            <a:r>
              <a:rPr lang="en-US" dirty="0" err="1"/>
              <a:t>openssl</a:t>
            </a:r>
            <a:r>
              <a:rPr lang="en-US" dirty="0"/>
              <a:t> x509 -text -in /opt/</a:t>
            </a:r>
            <a:r>
              <a:rPr lang="en-US" dirty="0" err="1"/>
              <a:t>tak</a:t>
            </a:r>
            <a:r>
              <a:rPr lang="en-US" dirty="0"/>
              <a:t>/certs/files/</a:t>
            </a:r>
            <a:r>
              <a:rPr lang="en-US" dirty="0" err="1"/>
              <a:t>revokedClient.pem</a:t>
            </a:r>
            <a:r>
              <a:rPr lang="en-US" dirty="0"/>
              <a:t> | grep -</a:t>
            </a:r>
            <a:r>
              <a:rPr lang="en-US" dirty="0" err="1"/>
              <a:t>Eo</a:t>
            </a:r>
            <a:r>
              <a:rPr lang="en-US" dirty="0"/>
              <a:t> "Issuer:.+“</a:t>
            </a:r>
          </a:p>
          <a:p>
            <a:r>
              <a:rPr lang="en-US" dirty="0"/>
              <a:t>Revoke the Client:</a:t>
            </a:r>
          </a:p>
          <a:p>
            <a:pPr lvl="1"/>
            <a:r>
              <a:rPr lang="en-US" dirty="0"/>
              <a:t>Change to the </a:t>
            </a:r>
            <a:r>
              <a:rPr lang="en-US" dirty="0" err="1"/>
              <a:t>tak</a:t>
            </a:r>
            <a:r>
              <a:rPr lang="en-US" dirty="0"/>
              <a:t> user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su</a:t>
            </a:r>
            <a:r>
              <a:rPr lang="en-US" b="1" dirty="0"/>
              <a:t> </a:t>
            </a:r>
            <a:r>
              <a:rPr lang="en-US" b="1" dirty="0" err="1"/>
              <a:t>tak</a:t>
            </a:r>
            <a:endParaRPr lang="en-US" b="1" dirty="0"/>
          </a:p>
          <a:p>
            <a:pPr lvl="1"/>
            <a:r>
              <a:rPr lang="en-US" dirty="0"/>
              <a:t>Change directories to the certificate directory</a:t>
            </a:r>
          </a:p>
          <a:p>
            <a:pPr lvl="2"/>
            <a:r>
              <a:rPr lang="en-US" b="1" dirty="0"/>
              <a:t>cd /opt/</a:t>
            </a:r>
            <a:r>
              <a:rPr lang="en-US" b="1" dirty="0" err="1"/>
              <a:t>tak</a:t>
            </a:r>
            <a:r>
              <a:rPr lang="en-US" b="1" dirty="0"/>
              <a:t>/certs</a:t>
            </a:r>
          </a:p>
          <a:p>
            <a:pPr lvl="1"/>
            <a:r>
              <a:rPr lang="en-US" dirty="0"/>
              <a:t>Revoke the targeted cert</a:t>
            </a:r>
          </a:p>
          <a:p>
            <a:pPr lvl="2"/>
            <a:r>
              <a:rPr lang="en-US" b="1" dirty="0"/>
              <a:t>./revokeCert.sh /opt/</a:t>
            </a:r>
            <a:r>
              <a:rPr lang="en-US" b="1" dirty="0" err="1"/>
              <a:t>tak</a:t>
            </a:r>
            <a:r>
              <a:rPr lang="en-US" b="1" dirty="0"/>
              <a:t>/certs/files/&lt;</a:t>
            </a:r>
            <a:r>
              <a:rPr lang="en-US" b="1" dirty="0" err="1"/>
              <a:t>commonName</a:t>
            </a:r>
            <a:r>
              <a:rPr lang="en-US" b="1" dirty="0"/>
              <a:t>&gt; /opt/</a:t>
            </a:r>
            <a:r>
              <a:rPr lang="en-US" b="1" dirty="0" err="1"/>
              <a:t>tak</a:t>
            </a:r>
            <a:r>
              <a:rPr lang="en-US" b="1" dirty="0"/>
              <a:t>/certs/files/ca-do-not-share /opt/</a:t>
            </a:r>
            <a:r>
              <a:rPr lang="en-US" b="1" dirty="0" err="1"/>
              <a:t>tak</a:t>
            </a:r>
            <a:r>
              <a:rPr lang="en-US" b="1" dirty="0"/>
              <a:t>/certs/files/cat</a:t>
            </a:r>
          </a:p>
          <a:p>
            <a:pPr lvl="3"/>
            <a:r>
              <a:rPr lang="en-US" b="1" dirty="0"/>
              <a:t>Example: </a:t>
            </a:r>
            <a:r>
              <a:rPr lang="en-US" dirty="0"/>
              <a:t>./revokeCert.sh /opt/</a:t>
            </a:r>
            <a:r>
              <a:rPr lang="en-US" dirty="0" err="1"/>
              <a:t>tak</a:t>
            </a:r>
            <a:r>
              <a:rPr lang="en-US" dirty="0"/>
              <a:t>/certs/files/</a:t>
            </a:r>
            <a:r>
              <a:rPr lang="en-US" dirty="0" err="1"/>
              <a:t>revokedClient</a:t>
            </a:r>
            <a:r>
              <a:rPr lang="en-US" dirty="0"/>
              <a:t> /opt/</a:t>
            </a:r>
            <a:r>
              <a:rPr lang="en-US" dirty="0" err="1"/>
              <a:t>tak</a:t>
            </a:r>
            <a:r>
              <a:rPr lang="en-US" dirty="0"/>
              <a:t>/certs/files/ca-do-not-share /opt/</a:t>
            </a:r>
            <a:r>
              <a:rPr lang="en-US" dirty="0" err="1"/>
              <a:t>tak</a:t>
            </a:r>
            <a:r>
              <a:rPr lang="en-US" dirty="0"/>
              <a:t>/certs/files/ca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B5388F-2273-527E-2430-041AB316B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205" y="2951784"/>
            <a:ext cx="6835199" cy="95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4202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A39F7BCC256F418F2C0D5C2C974CF5" ma:contentTypeVersion="9" ma:contentTypeDescription="Create a new document." ma:contentTypeScope="" ma:versionID="cf923c9ea71ddc5ad3f9a281ca46b659">
  <xsd:schema xmlns:xsd="http://www.w3.org/2001/XMLSchema" xmlns:xs="http://www.w3.org/2001/XMLSchema" xmlns:p="http://schemas.microsoft.com/office/2006/metadata/properties" xmlns:ns3="194b328e-2efa-406f-a32f-cb1350dcbd87" xmlns:ns4="d4845bae-aa85-4f45-90f4-6d00be52cdd7" targetNamespace="http://schemas.microsoft.com/office/2006/metadata/properties" ma:root="true" ma:fieldsID="b0bf211cfcf254411ca9f7b4707064e1" ns3:_="" ns4:_="">
    <xsd:import namespace="194b328e-2efa-406f-a32f-cb1350dcbd87"/>
    <xsd:import namespace="d4845bae-aa85-4f45-90f4-6d00be52cdd7"/>
    <xsd:element name="properties">
      <xsd:complexType>
        <xsd:sequence>
          <xsd:element name="documentManagement">
            <xsd:complexType>
              <xsd:all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LengthInSeconds" minOccurs="0"/>
                <xsd:element ref="ns3:MediaServiceSystemTags" minOccurs="0"/>
                <xsd:element ref="ns3:MediaServiceSearchProperties" minOccurs="0"/>
                <xsd:element ref="ns3:MediaServiceMetadata" minOccurs="0"/>
                <xsd:element ref="ns3:MediaServiceFastMetadata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b328e-2efa-406f-a32f-cb1350dcbd87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internalName="MediaServiceAutoTags" ma:readOnly="true">
      <xsd:simpleType>
        <xsd:restriction base="dms:Text"/>
      </xsd:simpleType>
    </xsd:element>
    <xsd:element name="MediaServiceOCR" ma:index="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1" nillable="true" ma:displayName="Location" ma:internalName="MediaServiceLocation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Metadata" ma:index="2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845bae-aa85-4f45-90f4-6d00be52cdd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94b328e-2efa-406f-a32f-cb1350dcbd87" xsi:nil="true"/>
  </documentManagement>
</p:properties>
</file>

<file path=customXml/itemProps1.xml><?xml version="1.0" encoding="utf-8"?>
<ds:datastoreItem xmlns:ds="http://schemas.openxmlformats.org/officeDocument/2006/customXml" ds:itemID="{0CACC0AD-0CEB-4BD6-BCBA-E3EA109371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94b328e-2efa-406f-a32f-cb1350dcbd87"/>
    <ds:schemaRef ds:uri="d4845bae-aa85-4f45-90f4-6d00be52cd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D6A2D4A-509E-4A20-B995-0E8B0102145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57D323-B463-4861-B85B-0AD252EBCD0A}">
  <ds:schemaRefs>
    <ds:schemaRef ds:uri="194b328e-2efa-406f-a32f-cb1350dcbd87"/>
    <ds:schemaRef ds:uri="http://schemas.microsoft.com/office/2006/documentManagement/types"/>
    <ds:schemaRef ds:uri="http://purl.org/dc/elements/1.1/"/>
    <ds:schemaRef ds:uri="d4845bae-aa85-4f45-90f4-6d00be52cdd7"/>
    <ds:schemaRef ds:uri="http://purl.org/dc/dcmitype/"/>
    <ds:schemaRef ds:uri="http://purl.org/dc/terms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</ds:schemaRefs>
</ds:datastoreItem>
</file>

<file path=docMetadata/LabelInfo.xml><?xml version="1.0" encoding="utf-8"?>
<clbl:labelList xmlns:clbl="http://schemas.microsoft.com/office/2020/mipLabelMetadata">
  <clbl:label id="{3de9faa6-9fe1-49b3-9a08-227a296b54a6}" enabled="1" method="Privileged" siteId="{d5fe813e-0caa-432a-b2ac-d555aa91bd1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3124</TotalTime>
  <Words>2581</Words>
  <PresentationFormat>Widescreen</PresentationFormat>
  <Paragraphs>209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-apple-system</vt:lpstr>
      <vt:lpstr>Aptos</vt:lpstr>
      <vt:lpstr>Aptos Display</vt:lpstr>
      <vt:lpstr>Arial</vt:lpstr>
      <vt:lpstr>Calibri</vt:lpstr>
      <vt:lpstr>Segoe UI</vt:lpstr>
      <vt:lpstr>Wingdings</vt:lpstr>
      <vt:lpstr>Office Theme</vt:lpstr>
      <vt:lpstr>TAK Server Certificate Enrollment/Revoking</vt:lpstr>
      <vt:lpstr>Certificate Enrollment - Hard vs Soft</vt:lpstr>
      <vt:lpstr>Certificate Auto Enrollment</vt:lpstr>
      <vt:lpstr>Certificate Auto Enrollment - Command Line</vt:lpstr>
      <vt:lpstr>Certificate Auto Enrollment - Command Line</vt:lpstr>
      <vt:lpstr>Certificate Auto Enrollment</vt:lpstr>
      <vt:lpstr>Enrolling Clients with Auto Enrollment</vt:lpstr>
      <vt:lpstr>Connecting ATAK to TAK Server</vt:lpstr>
      <vt:lpstr>Soft Certificate Management</vt:lpstr>
      <vt:lpstr>Soft Certificate Management</vt:lpstr>
      <vt:lpstr>Soft Certificate Management</vt:lpstr>
      <vt:lpstr>Soft Certificate Management - Connecting</vt:lpstr>
      <vt:lpstr>Revoking Certificates - Server Dashboard</vt:lpstr>
      <vt:lpstr>Revoking Certificates - Server Monitoring</vt:lpstr>
      <vt:lpstr>Certificate Revocation List</vt:lpstr>
      <vt:lpstr>Revoking Clients - Publish the Revoked Certificate - Command Line</vt:lpstr>
      <vt:lpstr>Revoking Clients - Publish the Revoked Certificate - Command Line</vt:lpstr>
      <vt:lpstr>Revoking Clients - Publish the Revoked Certificate - Command Line</vt:lpstr>
      <vt:lpstr>Revoking Certificates - Command 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2024-08-02T18:24:46Z</dcterms:created>
  <dcterms:modified xsi:type="dcterms:W3CDTF">2025-04-14T17:20:58Z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0x01010086A39F7BCC256F418F2C0D5C2C974CF5</vt:lpwstr>
  </property>
</Properties>
</file>