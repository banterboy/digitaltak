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1_4694E513.xml" ContentType="application/vnd.ms-powerpoint.comments+xml"/>
  <Override PartName="/ppt/comments/modernComment_102_1B82FEB6.xml" ContentType="application/vnd.ms-powerpoint.comments+xml"/>
  <Override PartName="/ppt/comments/modernComment_103_C8E064A1.xml" ContentType="application/vnd.ms-powerpoint.comments+xml"/>
  <Override PartName="/ppt/comments/modernComment_105_924FAED8.xml" ContentType="application/vnd.ms-powerpoint.comments+xml"/>
  <Override PartName="/ppt/comments/modernComment_109_59AB007B.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C_43420802.xml" ContentType="application/vnd.ms-powerpoint.comments+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70" r:id="rId5"/>
    <p:sldId id="271" r:id="rId6"/>
    <p:sldId id="259" r:id="rId7"/>
    <p:sldId id="260" r:id="rId8"/>
    <p:sldId id="261" r:id="rId9"/>
    <p:sldId id="262" r:id="rId10"/>
    <p:sldId id="264" r:id="rId11"/>
    <p:sldId id="263"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omments/modernComment_10C_43420802.xml><?xml version="1.0" encoding="utf-8"?>
<p188:cmLst xmlns:a="http://schemas.openxmlformats.org/drawingml/2006/main" xmlns:r="http://schemas.openxmlformats.org/officeDocument/2006/relationships" xmlns:p188="http://schemas.microsoft.com/office/powerpoint/2018/8/main">
  <p188:cm id="{E5C922F0-3AE8-49ED-BFB2-0F79967602AF}" authorId="{F8FCC031-81A3-B21B-57EB-22115A932BF2}" created="2024-08-05T20:26:56.318">
    <ac:deMkLst xmlns:ac="http://schemas.microsoft.com/office/drawing/2013/main/command">
      <pc:docMk xmlns:pc="http://schemas.microsoft.com/office/powerpoint/2013/main/command"/>
      <pc:sldMk xmlns:pc="http://schemas.microsoft.com/office/powerpoint/2013/main/command" cId="1128400898" sldId="268"/>
      <ac:spMk id="3" creationId="{2376A19A-4E02-9F08-91BC-7DE67BB374F4}"/>
    </ac:deMkLst>
    <p188:txBody>
      <a:bodyPr/>
      <a:lstStyle/>
      <a:p>
        <a:r>
          <a:rPr lang="en-US"/>
          <a:t>If we wanted to make the same changes that we did previously but through the command line, we would need to make the same changes to the Core Configuration file directly. </a:t>
        </a:r>
      </a:p>
    </p188:txBody>
  </p188:cm>
  <p188:cm id="{C361E35B-C731-4BD9-8975-DA225450A6D1}" authorId="{F8FCC031-81A3-B21B-57EB-22115A932BF2}" created="2024-08-05T20:27:53.642">
    <ac:deMkLst xmlns:ac="http://schemas.microsoft.com/office/drawing/2013/main/command">
      <pc:docMk xmlns:pc="http://schemas.microsoft.com/office/powerpoint/2013/main/command"/>
      <pc:sldMk xmlns:pc="http://schemas.microsoft.com/office/powerpoint/2013/main/command" cId="1128400898" sldId="268"/>
      <ac:spMk id="3" creationId="{2376A19A-4E02-9F08-91BC-7DE67BB374F4}"/>
    </ac:deMkLst>
    <p188:txBody>
      <a:bodyPr/>
      <a:lstStyle/>
      <a:p>
        <a:r>
          <a:rPr lang="en-US"/>
          <a:t>You can the protocol type to TCP (Transmission Control Protocol) rather than TLS (Transport Layer Security) but TCP is not secure. The demo showed TCP to demonstrate it and how it interacts with other TAK clients.  </a:t>
        </a:r>
      </a:p>
    </p188:txBody>
  </p188:cm>
</p188:cmLst>
</file>

<file path=ppt/comments/modernComment_101_4694E513.xml><?xml version="1.0" encoding="utf-8"?>
<p188:cmLst xmlns:a="http://schemas.openxmlformats.org/drawingml/2006/main" xmlns:r="http://schemas.openxmlformats.org/officeDocument/2006/relationships" xmlns:p188="http://schemas.microsoft.com/office/powerpoint/2018/8/main">
  <p188:cm id="{948E1C72-81BA-4666-9F95-16E86EF7D33B}" authorId="{F8FCC031-81A3-B21B-57EB-22115A932BF2}" created="2024-08-05T17:04:58.860">
    <pc:sldMkLst xmlns:pc="http://schemas.microsoft.com/office/powerpoint/2013/main/command">
      <pc:docMk/>
      <pc:sldMk cId="1184163091" sldId="257"/>
    </pc:sldMkLst>
    <p188:txBody>
      <a:bodyPr/>
      <a:lstStyle/>
      <a:p>
        <a:r>
          <a:rPr lang="en-US"/>
          <a:t>By default users are placed into the group “__ANON__”, meaning that all users are apart of the same group with the same privileges by default. Ideal for some but not all.</a:t>
        </a:r>
      </a:p>
    </p188:txBody>
  </p188:cm>
  <p188:cm id="{4B5457AD-3C82-443A-B47D-022039D7197A}" authorId="{F8FCC031-81A3-B21B-57EB-22115A932BF2}" created="2024-08-05T17:07:17.026">
    <pc:sldMkLst xmlns:pc="http://schemas.microsoft.com/office/powerpoint/2013/main/command">
      <pc:docMk/>
      <pc:sldMk cId="1184163091" sldId="257"/>
    </pc:sldMkLst>
    <p188:txBody>
      <a:bodyPr/>
      <a:lstStyle/>
      <a:p>
        <a:r>
          <a:rPr lang="en-US"/>
          <a:t>AD = active directory
LDAP = lightweight directory access protocol 
Both groups act similarly to the Both group within the TAK Server allowing both read and write. </a:t>
        </a:r>
      </a:p>
    </p188:txBody>
  </p188:cm>
</p188:cmLst>
</file>

<file path=ppt/comments/modernComment_102_1B82FEB6.xml><?xml version="1.0" encoding="utf-8"?>
<p188:cmLst xmlns:a="http://schemas.openxmlformats.org/drawingml/2006/main" xmlns:r="http://schemas.openxmlformats.org/officeDocument/2006/relationships" xmlns:p188="http://schemas.microsoft.com/office/powerpoint/2018/8/main">
  <p188:cm id="{5675D0EB-2E51-4E03-8732-180ECC80CB53}" authorId="{F8FCC031-81A3-B21B-57EB-22115A932BF2}" created="2024-08-05T18:00:33.101">
    <ac:deMkLst xmlns:ac="http://schemas.microsoft.com/office/drawing/2013/main/command">
      <pc:docMk xmlns:pc="http://schemas.microsoft.com/office/powerpoint/2013/main/command"/>
      <pc:sldMk xmlns:pc="http://schemas.microsoft.com/office/powerpoint/2013/main/command" cId="461569718" sldId="258"/>
      <ac:spMk id="3" creationId="{2CA90088-94B6-9FAB-F2AB-9E1A7ED68658}"/>
    </ac:deMkLst>
    <p188:txBody>
      <a:bodyPr/>
      <a:lstStyle/>
      <a:p>
        <a:r>
          <a:rPr lang="en-US"/>
          <a:t>There are two ways to implement groups: using the UserManager.jar and then using the web administrative dashboard. We are going to start off by creating a new client.</a:t>
        </a:r>
      </a:p>
    </p188:txBody>
  </p188:cm>
</p188:cmLst>
</file>

<file path=ppt/comments/modernComment_103_C8E064A1.xml><?xml version="1.0" encoding="utf-8"?>
<p188:cmLst xmlns:a="http://schemas.openxmlformats.org/drawingml/2006/main" xmlns:r="http://schemas.openxmlformats.org/officeDocument/2006/relationships" xmlns:p188="http://schemas.microsoft.com/office/powerpoint/2018/8/main">
  <p188:cm id="{490B09AB-25A9-4464-89AC-8634D3CE0792}" authorId="{F8FCC031-81A3-B21B-57EB-22115A932BF2}" created="2024-08-05T18:04:12.170">
    <ac:deMkLst xmlns:ac="http://schemas.microsoft.com/office/drawing/2013/main/command">
      <pc:docMk xmlns:pc="http://schemas.microsoft.com/office/powerpoint/2013/main/command"/>
      <pc:sldMk xmlns:pc="http://schemas.microsoft.com/office/powerpoint/2013/main/command" cId="3370149025" sldId="259"/>
      <ac:spMk id="3" creationId="{6B138D84-1BF1-027C-BA53-3F85A253C3B0}"/>
    </ac:deMkLst>
    <p188:txBody>
      <a:bodyPr/>
      <a:lstStyle/>
      <a:p>
        <a:r>
          <a:rPr lang="en-US"/>
          <a:t>These are the scripts for adding users to the group you desire.</a:t>
        </a:r>
      </a:p>
    </p188:txBody>
  </p188:cm>
  <p188:cm id="{F1295972-1ACF-4393-8828-1133CEA768A3}" authorId="{F8FCC031-81A3-B21B-57EB-22115A932BF2}" created="2024-08-05T18:11:52.995">
    <ac:deMkLst xmlns:ac="http://schemas.microsoft.com/office/drawing/2013/main/command">
      <pc:docMk xmlns:pc="http://schemas.microsoft.com/office/powerpoint/2013/main/command"/>
      <pc:sldMk xmlns:pc="http://schemas.microsoft.com/office/powerpoint/2013/main/command" cId="3370149025" sldId="259"/>
      <ac:spMk id="3" creationId="{6B138D84-1BF1-027C-BA53-3F85A253C3B0}"/>
    </ac:deMkLst>
    <p188:txBody>
      <a:bodyPr/>
      <a:lstStyle/>
      <a:p>
        <a:r>
          <a:rPr lang="en-US"/>
          <a:t>Whenever we are changing something its best to use the tak user to prevent any permissions issues. </a:t>
        </a:r>
      </a:p>
    </p188:txBody>
  </p188:cm>
</p188:cmLst>
</file>

<file path=ppt/comments/modernComment_105_924FAED8.xml><?xml version="1.0" encoding="utf-8"?>
<p188:cmLst xmlns:a="http://schemas.openxmlformats.org/drawingml/2006/main" xmlns:r="http://schemas.openxmlformats.org/officeDocument/2006/relationships" xmlns:p188="http://schemas.microsoft.com/office/powerpoint/2018/8/main">
  <p188:cm id="{0FC4B63E-1C53-474D-BCB7-164A388DD7F6}" authorId="{F8FCC031-81A3-B21B-57EB-22115A932BF2}" created="2024-08-05T18:18:00.878">
    <ac:deMkLst xmlns:ac="http://schemas.microsoft.com/office/drawing/2013/main/command">
      <pc:docMk xmlns:pc="http://schemas.microsoft.com/office/powerpoint/2013/main/command"/>
      <pc:sldMk xmlns:pc="http://schemas.microsoft.com/office/powerpoint/2013/main/command" cId="2454695640" sldId="261"/>
      <ac:spMk id="3" creationId="{A941D5D6-4F73-9C9E-009B-1BB24BE51E6F}"/>
    </ac:deMkLst>
    <p188:txBody>
      <a:bodyPr/>
      <a:lstStyle/>
      <a:p>
        <a:r>
          <a:rPr lang="en-US"/>
          <a:t>This is not as easy as it is from the server dashboard. You will need to know what group that user is in by examining the UserAuthenticationFile.xml file. </a:t>
        </a:r>
      </a:p>
    </p188:txBody>
  </p188:cm>
</p188:cmLst>
</file>

<file path=ppt/comments/modernComment_109_59AB007B.xml><?xml version="1.0" encoding="utf-8"?>
<p188:cmLst xmlns:a="http://schemas.openxmlformats.org/drawingml/2006/main" xmlns:r="http://schemas.openxmlformats.org/officeDocument/2006/relationships" xmlns:p188="http://schemas.microsoft.com/office/powerpoint/2018/8/main">
  <p188:cm id="{8723835A-DF4F-4DC8-A202-04964E7ED298}" authorId="{F8FCC031-81A3-B21B-57EB-22115A932BF2}" created="2024-08-05T18:57:39.385">
    <ac:deMkLst xmlns:ac="http://schemas.microsoft.com/office/drawing/2013/main/command">
      <pc:docMk xmlns:pc="http://schemas.microsoft.com/office/powerpoint/2013/main/command"/>
      <pc:sldMk xmlns:pc="http://schemas.microsoft.com/office/powerpoint/2013/main/command" cId="1504379003" sldId="265"/>
      <ac:spMk id="3" creationId="{7ECE9FAC-BF77-1D80-E33E-3CA7EA71D006}"/>
    </ac:deMkLst>
    <p188:txBody>
      <a:bodyPr/>
      <a:lstStyle/>
      <a:p>
        <a:r>
          <a:rPr lang="en-US"/>
          <a:t>Input-based groups use an open port on the TAK Server to place common TAK clients into a group using multiple inbound connections. </a:t>
        </a:r>
      </a:p>
    </p188:txBody>
  </p188:cm>
  <p188:cm id="{1CF59F2E-7263-43A2-A621-3FEC05FF769A}" authorId="{F8FCC031-81A3-B21B-57EB-22115A932BF2}" created="2024-08-05T18:59:09.476">
    <ac:deMkLst xmlns:ac="http://schemas.microsoft.com/office/drawing/2013/main/command">
      <pc:docMk xmlns:pc="http://schemas.microsoft.com/office/powerpoint/2013/main/command"/>
      <pc:sldMk xmlns:pc="http://schemas.microsoft.com/office/powerpoint/2013/main/command" cId="1504379003" sldId="265"/>
      <ac:spMk id="3" creationId="{7ECE9FAC-BF77-1D80-E33E-3CA7EA71D006}"/>
    </ac:deMkLst>
    <p188:txBody>
      <a:bodyPr/>
      <a:lstStyle/>
      <a:p>
        <a:r>
          <a:rPr lang="en-US"/>
          <a:t>In our system we use 8089/TCP as the inbound port for TAK clients using a secure connection (SSL/TLS) (Secure Socket Layer/Transport Layer Security)</a:t>
        </a:r>
      </a:p>
    </p188:txBody>
  </p188:cm>
  <p188:cm id="{6CB424F9-B522-4765-9666-5EF648C430FA}" authorId="{F8FCC031-81A3-B21B-57EB-22115A932BF2}" created="2024-08-05T19:03:11.677">
    <ac:deMkLst xmlns:ac="http://schemas.microsoft.com/office/drawing/2013/main/command">
      <pc:docMk xmlns:pc="http://schemas.microsoft.com/office/powerpoint/2013/main/command"/>
      <pc:sldMk xmlns:pc="http://schemas.microsoft.com/office/powerpoint/2013/main/command" cId="1504379003" sldId="265"/>
      <ac:spMk id="3" creationId="{7ECE9FAC-BF77-1D80-E33E-3CA7EA71D006}"/>
    </ac:deMkLst>
    <p188:txBody>
      <a:bodyPr/>
      <a:lstStyle/>
      <a:p>
        <a:r>
          <a:rPr lang="en-US"/>
          <a:t>All connected clients utilize port 8089 to connect to the server, we can create groups based on connections by creating a new inbound port that will assign groups to clients. The user will still need to share the same authentication method with the TAK Server, but based on the input port would be placed in a statically configured group.
NOTE: This only works for TAK Clients, not WebTAK.</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11A5B-37B2-4749-B793-F9833BA20061}"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796CB-70CD-4F8E-8D9F-01462A4280A9}" type="slidenum">
              <a:rPr lang="en-US" smtClean="0"/>
              <a:t>‹#›</a:t>
            </a:fld>
            <a:endParaRPr lang="en-US"/>
          </a:p>
        </p:txBody>
      </p:sp>
    </p:spTree>
    <p:extLst>
      <p:ext uri="{BB962C8B-B14F-4D97-AF65-F5344CB8AC3E}">
        <p14:creationId xmlns:p14="http://schemas.microsoft.com/office/powerpoint/2010/main" val="1553641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 the authentication type needs to be set to “anonymous” for the groups that are connected to show up in the dashboard.</a:t>
            </a:r>
          </a:p>
        </p:txBody>
      </p:sp>
      <p:sp>
        <p:nvSpPr>
          <p:cNvPr id="4" name="Slide Number Placeholder 3"/>
          <p:cNvSpPr>
            <a:spLocks noGrp="1"/>
          </p:cNvSpPr>
          <p:nvPr>
            <p:ph type="sldNum" sz="quarter" idx="5"/>
          </p:nvPr>
        </p:nvSpPr>
        <p:spPr/>
        <p:txBody>
          <a:bodyPr/>
          <a:lstStyle/>
          <a:p>
            <a:fld id="{6AA796CB-70CD-4F8E-8D9F-01462A4280A9}" type="slidenum">
              <a:rPr lang="en-US" smtClean="0"/>
              <a:t>14</a:t>
            </a:fld>
            <a:endParaRPr lang="en-US"/>
          </a:p>
        </p:txBody>
      </p:sp>
    </p:spTree>
    <p:extLst>
      <p:ext uri="{BB962C8B-B14F-4D97-AF65-F5344CB8AC3E}">
        <p14:creationId xmlns:p14="http://schemas.microsoft.com/office/powerpoint/2010/main" val="3746417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Note the authentication type needs to be set to “anonymous” for the groups that are connected to show up in the dashboard.</a:t>
            </a:r>
          </a:p>
          <a:p>
            <a:endParaRPr lang="en-US" dirty="0"/>
          </a:p>
        </p:txBody>
      </p:sp>
      <p:sp>
        <p:nvSpPr>
          <p:cNvPr id="4" name="Slide Number Placeholder 3"/>
          <p:cNvSpPr>
            <a:spLocks noGrp="1"/>
          </p:cNvSpPr>
          <p:nvPr>
            <p:ph type="sldNum" sz="quarter" idx="5"/>
          </p:nvPr>
        </p:nvSpPr>
        <p:spPr/>
        <p:txBody>
          <a:bodyPr/>
          <a:lstStyle/>
          <a:p>
            <a:fld id="{6AA796CB-70CD-4F8E-8D9F-01462A4280A9}" type="slidenum">
              <a:rPr lang="en-US" smtClean="0"/>
              <a:t>15</a:t>
            </a:fld>
            <a:endParaRPr lang="en-US"/>
          </a:p>
        </p:txBody>
      </p:sp>
    </p:spTree>
    <p:extLst>
      <p:ext uri="{BB962C8B-B14F-4D97-AF65-F5344CB8AC3E}">
        <p14:creationId xmlns:p14="http://schemas.microsoft.com/office/powerpoint/2010/main" val="2301331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Note the authentication type needs to be set to “anonymous” for the groups that are connected to show up in the dashboard.</a:t>
            </a:r>
          </a:p>
          <a:p>
            <a:endParaRPr lang="en-US" dirty="0"/>
          </a:p>
        </p:txBody>
      </p:sp>
      <p:sp>
        <p:nvSpPr>
          <p:cNvPr id="4" name="Slide Number Placeholder 3"/>
          <p:cNvSpPr>
            <a:spLocks noGrp="1"/>
          </p:cNvSpPr>
          <p:nvPr>
            <p:ph type="sldNum" sz="quarter" idx="5"/>
          </p:nvPr>
        </p:nvSpPr>
        <p:spPr/>
        <p:txBody>
          <a:bodyPr/>
          <a:lstStyle/>
          <a:p>
            <a:fld id="{6AA796CB-70CD-4F8E-8D9F-01462A4280A9}" type="slidenum">
              <a:rPr lang="en-US" smtClean="0"/>
              <a:t>16</a:t>
            </a:fld>
            <a:endParaRPr lang="en-US"/>
          </a:p>
        </p:txBody>
      </p:sp>
    </p:spTree>
    <p:extLst>
      <p:ext uri="{BB962C8B-B14F-4D97-AF65-F5344CB8AC3E}">
        <p14:creationId xmlns:p14="http://schemas.microsoft.com/office/powerpoint/2010/main" val="3727452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E0C8F-AE04-2B7E-B4EC-1BDA9F3416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3AAFB5-1046-8398-FEFD-E63592D5D1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E2FD05-127D-5699-E2CF-00975FEB1697}"/>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57EDE7F1-7CCC-D424-3BC1-DB557FD818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8171FD-79FC-02B4-50FC-00621ACC47B6}"/>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33137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F7F23-2E89-EA13-8075-AA9649C9C6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ED65F2-5C03-9832-9078-7E80CEE101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A4D430-28E0-6B61-7C87-629DCCC81485}"/>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F9058AE6-3DF0-1C1A-7827-B5777CFF9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6E61FA-DA1C-3ECB-B639-193ABBE2CE6E}"/>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2499307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5A27E-15C6-8B3F-F73B-A34315C320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F3243E-D84F-2803-3F3B-9271580818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B4517C-CA3F-5705-C88E-7AD7477520D3}"/>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FB699F39-71EF-2849-7BB6-CD93CFB2C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C36547-7058-355E-2D26-824165894993}"/>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3419693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FB1E3-B9DF-9505-3BE2-8C5777937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A6D11-1479-B312-A5DF-60C2F83FC7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57EC49-012B-A5CF-DF4A-6208709D5C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006404-AE23-502E-3506-311B1396BA97}"/>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6" name="Footer Placeholder 5">
            <a:extLst>
              <a:ext uri="{FF2B5EF4-FFF2-40B4-BE49-F238E27FC236}">
                <a16:creationId xmlns:a16="http://schemas.microsoft.com/office/drawing/2014/main" id="{6224F42B-1E2C-6553-4501-D36B3F1C9C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BFD00D-33A2-E62C-1BAF-B2F6F9F39FC5}"/>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3197317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1C578-B90D-327F-B706-3182B3B984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4A1B46-F183-6976-E2BA-EA348E5D76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210F06-F21A-9F11-42F7-198093ACF9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87E273-9A0C-0E67-C3EF-94DE1CD9F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63BBC-C260-DE2C-3A80-0545E2FD74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63D62-2232-DC6A-6372-3AC22784ED68}"/>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8" name="Footer Placeholder 7">
            <a:extLst>
              <a:ext uri="{FF2B5EF4-FFF2-40B4-BE49-F238E27FC236}">
                <a16:creationId xmlns:a16="http://schemas.microsoft.com/office/drawing/2014/main" id="{CED5C235-AEFE-EE86-58E2-7B5B08C2DC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CEC3CA-C994-EDAD-2095-A7A3E70EC664}"/>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372316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2BA8-D4C1-3D38-E106-2C1AD34980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EE8654-3869-A90C-8918-66691CD9EBBD}"/>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4" name="Footer Placeholder 3">
            <a:extLst>
              <a:ext uri="{FF2B5EF4-FFF2-40B4-BE49-F238E27FC236}">
                <a16:creationId xmlns:a16="http://schemas.microsoft.com/office/drawing/2014/main" id="{2BAEBBDA-BF79-7CF9-AEB3-88BCAFFD96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14D2BE-D601-A0C0-4BFD-DFC269C35536}"/>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2881266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FB2A2-34AB-1C39-CBF8-30F839E58CE7}"/>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3" name="Footer Placeholder 2">
            <a:extLst>
              <a:ext uri="{FF2B5EF4-FFF2-40B4-BE49-F238E27FC236}">
                <a16:creationId xmlns:a16="http://schemas.microsoft.com/office/drawing/2014/main" id="{712E0568-F18C-A76E-E2C1-52CD46D5D2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A86ED8-BE82-BF5A-B176-4448D8BB3641}"/>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3481563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DA9B-B89E-E73C-1704-D517282E2A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C04357-FF32-8CDE-F171-487C363F69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BD2CAA-A31F-3828-ED32-44F4D8FA7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8027F-F40F-A81D-EB37-4E673A8B397A}"/>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6" name="Footer Placeholder 5">
            <a:extLst>
              <a:ext uri="{FF2B5EF4-FFF2-40B4-BE49-F238E27FC236}">
                <a16:creationId xmlns:a16="http://schemas.microsoft.com/office/drawing/2014/main" id="{BE9EA58F-998D-287B-FB1C-59BD890706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FBEB05-0287-D987-5762-2F7CE45352C4}"/>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606763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B3B21-54DC-D686-2B32-9152AFEEC9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727DBA-661D-573E-BC3E-262A99E52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23FDA1-7C00-6ABE-EFED-2CA34B237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9E9DF-FA42-5873-DD26-B7B7E1522C98}"/>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6" name="Footer Placeholder 5">
            <a:extLst>
              <a:ext uri="{FF2B5EF4-FFF2-40B4-BE49-F238E27FC236}">
                <a16:creationId xmlns:a16="http://schemas.microsoft.com/office/drawing/2014/main" id="{0BA055BC-8524-C040-B233-F42086BA4C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CCFD65-19E2-43D7-F1B0-4A915CAED395}"/>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1370231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144FC-4061-2704-4A48-8FAF72545F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F89480-BAC7-4DD1-5F47-23CEC04745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EB8ECD-7E47-DC3B-6B3B-C393E210F04E}"/>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2FE6568B-44E9-4C18-3609-BB3603901C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3073DA-448C-6AC0-481F-0E642C8019AC}"/>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215957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246AE-4DB9-DBD1-5C1A-323F5270C5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B5F48B-7875-928F-F442-819905DAE7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CB43D6-7741-EC7B-E753-44E9AD04A6BB}"/>
              </a:ext>
            </a:extLst>
          </p:cNvPr>
          <p:cNvSpPr>
            <a:spLocks noGrp="1"/>
          </p:cNvSpPr>
          <p:nvPr>
            <p:ph type="dt" sz="half" idx="10"/>
          </p:nvPr>
        </p:nvSpPr>
        <p:spPr/>
        <p:txBody>
          <a:body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53552CF8-5C82-E75B-FA6A-430112FB4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0CE8AE-BFDE-4C03-47D5-A5381E4D4A59}"/>
              </a:ext>
            </a:extLst>
          </p:cNvPr>
          <p:cNvSpPr>
            <a:spLocks noGrp="1"/>
          </p:cNvSpPr>
          <p:nvPr>
            <p:ph type="sldNum" sz="quarter" idx="12"/>
          </p:nvPr>
        </p:nvSpPr>
        <p:spPr/>
        <p:txBody>
          <a:bodyPr/>
          <a:lstStyle/>
          <a:p>
            <a:fld id="{E479EC5D-92CC-425E-AF94-482D4E4A9724}" type="slidenum">
              <a:rPr lang="en-US" smtClean="0"/>
              <a:t>‹#›</a:t>
            </a:fld>
            <a:endParaRPr lang="en-US"/>
          </a:p>
        </p:txBody>
      </p:sp>
    </p:spTree>
    <p:extLst>
      <p:ext uri="{BB962C8B-B14F-4D97-AF65-F5344CB8AC3E}">
        <p14:creationId xmlns:p14="http://schemas.microsoft.com/office/powerpoint/2010/main" val="2660377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6117BC-4F39-B029-4E6F-7AA16F4D2D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D112BC-7EFB-50B6-39D4-699090BE1A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FFE71-9E94-ECBA-33F8-068D87F23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AF5163-8DF7-4D8A-B7F3-33D99B09CC93}" type="datetimeFigureOut">
              <a:rPr lang="en-US" smtClean="0"/>
              <a:t>4/14/2025</a:t>
            </a:fld>
            <a:endParaRPr lang="en-US"/>
          </a:p>
        </p:txBody>
      </p:sp>
      <p:sp>
        <p:nvSpPr>
          <p:cNvPr id="5" name="Footer Placeholder 4">
            <a:extLst>
              <a:ext uri="{FF2B5EF4-FFF2-40B4-BE49-F238E27FC236}">
                <a16:creationId xmlns:a16="http://schemas.microsoft.com/office/drawing/2014/main" id="{F2779E73-25DE-5A2F-D6D3-AFDC5F2868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C33E4-DF6E-9A4D-B2CD-71920924FD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79EC5D-92CC-425E-AF94-482D4E4A9724}" type="slidenum">
              <a:rPr lang="en-US" smtClean="0"/>
              <a:t>‹#›</a:t>
            </a:fld>
            <a:endParaRPr lang="en-US"/>
          </a:p>
        </p:txBody>
      </p:sp>
    </p:spTree>
    <p:extLst>
      <p:ext uri="{BB962C8B-B14F-4D97-AF65-F5344CB8AC3E}">
        <p14:creationId xmlns:p14="http://schemas.microsoft.com/office/powerpoint/2010/main" val="2897372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1_4694E5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02_1B82FEB6.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3_C8E064A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5_924FAED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09_59AB007B.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C_4342080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F90C-04BC-4E31-9FDE-55C917051EF1}"/>
              </a:ext>
            </a:extLst>
          </p:cNvPr>
          <p:cNvSpPr>
            <a:spLocks noGrp="1"/>
          </p:cNvSpPr>
          <p:nvPr>
            <p:ph type="ctrTitle"/>
          </p:nvPr>
        </p:nvSpPr>
        <p:spPr/>
        <p:txBody>
          <a:bodyPr/>
          <a:lstStyle/>
          <a:p>
            <a:r>
              <a:rPr lang="en-US" dirty="0"/>
              <a:t>TAK Server - Managing Users and Groups</a:t>
            </a:r>
          </a:p>
        </p:txBody>
      </p:sp>
      <p:sp>
        <p:nvSpPr>
          <p:cNvPr id="3" name="Subtitle 2">
            <a:extLst>
              <a:ext uri="{FF2B5EF4-FFF2-40B4-BE49-F238E27FC236}">
                <a16:creationId xmlns:a16="http://schemas.microsoft.com/office/drawing/2014/main" id="{27F69031-6247-09AD-4138-EE400DB6FE7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82649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52437-0929-7ED1-CFC0-570F462B5988}"/>
              </a:ext>
            </a:extLst>
          </p:cNvPr>
          <p:cNvSpPr>
            <a:spLocks noGrp="1"/>
          </p:cNvSpPr>
          <p:nvPr>
            <p:ph type="title"/>
          </p:nvPr>
        </p:nvSpPr>
        <p:spPr/>
        <p:txBody>
          <a:bodyPr/>
          <a:lstStyle/>
          <a:p>
            <a:r>
              <a:rPr lang="en-US" dirty="0"/>
              <a:t>TAK Server - Groups</a:t>
            </a:r>
          </a:p>
        </p:txBody>
      </p:sp>
      <p:sp>
        <p:nvSpPr>
          <p:cNvPr id="3" name="Content Placeholder 2">
            <a:extLst>
              <a:ext uri="{FF2B5EF4-FFF2-40B4-BE49-F238E27FC236}">
                <a16:creationId xmlns:a16="http://schemas.microsoft.com/office/drawing/2014/main" id="{F0E11D08-2D55-740F-EFC9-29C3AC4FEA7D}"/>
              </a:ext>
            </a:extLst>
          </p:cNvPr>
          <p:cNvSpPr>
            <a:spLocks noGrp="1"/>
          </p:cNvSpPr>
          <p:nvPr>
            <p:ph idx="1"/>
          </p:nvPr>
        </p:nvSpPr>
        <p:spPr/>
        <p:txBody>
          <a:bodyPr/>
          <a:lstStyle/>
          <a:p>
            <a:r>
              <a:rPr lang="en-US" dirty="0"/>
              <a:t>There are three roles within groups:</a:t>
            </a:r>
          </a:p>
          <a:p>
            <a:pPr lvl="1"/>
            <a:r>
              <a:rPr lang="en-US" dirty="0"/>
              <a:t>In: the user events are transmitted to the group that they are placed in, allowing the user to write to the server but not read. </a:t>
            </a:r>
          </a:p>
          <a:p>
            <a:pPr lvl="1"/>
            <a:r>
              <a:rPr lang="en-US" dirty="0"/>
              <a:t>Out: the user can receive transmitted events from the group they are place in, allowing the user to read messages but not write. </a:t>
            </a:r>
          </a:p>
          <a:p>
            <a:pPr lvl="1"/>
            <a:r>
              <a:rPr lang="en-US" dirty="0"/>
              <a:t>Both: Allows both reading and writing to the server.</a:t>
            </a:r>
          </a:p>
        </p:txBody>
      </p:sp>
      <p:pic>
        <p:nvPicPr>
          <p:cNvPr id="5" name="Picture 4">
            <a:extLst>
              <a:ext uri="{FF2B5EF4-FFF2-40B4-BE49-F238E27FC236}">
                <a16:creationId xmlns:a16="http://schemas.microsoft.com/office/drawing/2014/main" id="{A99BFEAE-C6F9-C81F-199F-764960A0D6E6}"/>
              </a:ext>
            </a:extLst>
          </p:cNvPr>
          <p:cNvPicPr>
            <a:picLocks noChangeAspect="1"/>
          </p:cNvPicPr>
          <p:nvPr/>
        </p:nvPicPr>
        <p:blipFill>
          <a:blip r:embed="rId3"/>
          <a:stretch>
            <a:fillRect/>
          </a:stretch>
        </p:blipFill>
        <p:spPr>
          <a:xfrm>
            <a:off x="6240545" y="4069651"/>
            <a:ext cx="5013338" cy="2788349"/>
          </a:xfrm>
          <a:prstGeom prst="rect">
            <a:avLst/>
          </a:prstGeom>
        </p:spPr>
      </p:pic>
      <p:pic>
        <p:nvPicPr>
          <p:cNvPr id="7" name="Picture 6">
            <a:extLst>
              <a:ext uri="{FF2B5EF4-FFF2-40B4-BE49-F238E27FC236}">
                <a16:creationId xmlns:a16="http://schemas.microsoft.com/office/drawing/2014/main" id="{7CC698DF-C0EB-6E8C-57BD-FD5AAE4F366F}"/>
              </a:ext>
            </a:extLst>
          </p:cNvPr>
          <p:cNvPicPr>
            <a:picLocks noChangeAspect="1"/>
          </p:cNvPicPr>
          <p:nvPr/>
        </p:nvPicPr>
        <p:blipFill>
          <a:blip r:embed="rId4"/>
          <a:stretch>
            <a:fillRect/>
          </a:stretch>
        </p:blipFill>
        <p:spPr>
          <a:xfrm>
            <a:off x="1877498" y="4358977"/>
            <a:ext cx="3610479" cy="2133898"/>
          </a:xfrm>
          <a:prstGeom prst="rect">
            <a:avLst/>
          </a:prstGeom>
        </p:spPr>
      </p:pic>
      <p:pic>
        <p:nvPicPr>
          <p:cNvPr id="9" name="Picture 8">
            <a:extLst>
              <a:ext uri="{FF2B5EF4-FFF2-40B4-BE49-F238E27FC236}">
                <a16:creationId xmlns:a16="http://schemas.microsoft.com/office/drawing/2014/main" id="{D82F5846-36A5-8E05-B5CD-5EA6549CDCB7}"/>
              </a:ext>
            </a:extLst>
          </p:cNvPr>
          <p:cNvPicPr>
            <a:picLocks noChangeAspect="1"/>
          </p:cNvPicPr>
          <p:nvPr/>
        </p:nvPicPr>
        <p:blipFill>
          <a:blip r:embed="rId5"/>
          <a:stretch>
            <a:fillRect/>
          </a:stretch>
        </p:blipFill>
        <p:spPr>
          <a:xfrm>
            <a:off x="6872140" y="365125"/>
            <a:ext cx="4193675" cy="1704989"/>
          </a:xfrm>
          <a:prstGeom prst="rect">
            <a:avLst/>
          </a:prstGeom>
        </p:spPr>
      </p:pic>
    </p:spTree>
    <p:extLst>
      <p:ext uri="{BB962C8B-B14F-4D97-AF65-F5344CB8AC3E}">
        <p14:creationId xmlns:p14="http://schemas.microsoft.com/office/powerpoint/2010/main" val="118416309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429CA-4CFE-8AB7-CE1C-FDCF0898C376}"/>
              </a:ext>
            </a:extLst>
          </p:cNvPr>
          <p:cNvSpPr>
            <a:spLocks noGrp="1"/>
          </p:cNvSpPr>
          <p:nvPr>
            <p:ph type="title"/>
          </p:nvPr>
        </p:nvSpPr>
        <p:spPr/>
        <p:txBody>
          <a:bodyPr/>
          <a:lstStyle/>
          <a:p>
            <a:r>
              <a:rPr lang="en-US" dirty="0"/>
              <a:t>TAK Server - Implementing Groups - Command Line</a:t>
            </a:r>
          </a:p>
        </p:txBody>
      </p:sp>
      <p:sp>
        <p:nvSpPr>
          <p:cNvPr id="3" name="Content Placeholder 2">
            <a:extLst>
              <a:ext uri="{FF2B5EF4-FFF2-40B4-BE49-F238E27FC236}">
                <a16:creationId xmlns:a16="http://schemas.microsoft.com/office/drawing/2014/main" id="{2CA90088-94B6-9FAB-F2AB-9E1A7ED68658}"/>
              </a:ext>
            </a:extLst>
          </p:cNvPr>
          <p:cNvSpPr>
            <a:spLocks noGrp="1"/>
          </p:cNvSpPr>
          <p:nvPr>
            <p:ph idx="1"/>
          </p:nvPr>
        </p:nvSpPr>
        <p:spPr>
          <a:xfrm>
            <a:off x="838200" y="1690688"/>
            <a:ext cx="10515600" cy="4640394"/>
          </a:xfrm>
        </p:spPr>
        <p:txBody>
          <a:bodyPr/>
          <a:lstStyle/>
          <a:p>
            <a:r>
              <a:rPr lang="en-US" dirty="0"/>
              <a:t>Change to the </a:t>
            </a:r>
            <a:r>
              <a:rPr lang="en-US" dirty="0" err="1"/>
              <a:t>tak</a:t>
            </a:r>
            <a:r>
              <a:rPr lang="en-US" dirty="0"/>
              <a:t> user </a:t>
            </a:r>
          </a:p>
          <a:p>
            <a:pPr lvl="1"/>
            <a:r>
              <a:rPr lang="en-US" b="1" dirty="0" err="1"/>
              <a:t>sudo</a:t>
            </a:r>
            <a:r>
              <a:rPr lang="en-US" b="1" dirty="0"/>
              <a:t> </a:t>
            </a:r>
            <a:r>
              <a:rPr lang="en-US" b="1" dirty="0" err="1"/>
              <a:t>su</a:t>
            </a:r>
            <a:r>
              <a:rPr lang="en-US" b="1" dirty="0"/>
              <a:t> </a:t>
            </a:r>
            <a:r>
              <a:rPr lang="en-US" b="1" dirty="0" err="1"/>
              <a:t>tak</a:t>
            </a:r>
            <a:endParaRPr lang="en-US" b="1" dirty="0"/>
          </a:p>
          <a:p>
            <a:r>
              <a:rPr lang="en-US" dirty="0"/>
              <a:t>Navigate to the certificate directory</a:t>
            </a:r>
          </a:p>
          <a:p>
            <a:pPr lvl="1"/>
            <a:r>
              <a:rPr lang="en-US" b="1" dirty="0"/>
              <a:t>cd /opt/</a:t>
            </a:r>
            <a:r>
              <a:rPr lang="en-US" b="1" dirty="0" err="1"/>
              <a:t>tak</a:t>
            </a:r>
            <a:r>
              <a:rPr lang="en-US" b="1" dirty="0"/>
              <a:t>/certs</a:t>
            </a:r>
          </a:p>
          <a:p>
            <a:r>
              <a:rPr lang="en-US" dirty="0"/>
              <a:t>Create the client certificate</a:t>
            </a:r>
          </a:p>
          <a:p>
            <a:pPr lvl="1"/>
            <a:r>
              <a:rPr lang="en-US" b="1" dirty="0"/>
              <a:t>./makeCert.sh client &lt;username&gt; </a:t>
            </a:r>
          </a:p>
          <a:p>
            <a:pPr lvl="2"/>
            <a:r>
              <a:rPr lang="en-US" b="1" dirty="0"/>
              <a:t>Example: </a:t>
            </a:r>
            <a:r>
              <a:rPr lang="en-US" dirty="0"/>
              <a:t>./makeCert.sh client </a:t>
            </a:r>
            <a:r>
              <a:rPr lang="en-US" dirty="0" err="1"/>
              <a:t>Denji</a:t>
            </a:r>
            <a:endParaRPr lang="en-US" dirty="0"/>
          </a:p>
          <a:p>
            <a:pPr lvl="2"/>
            <a:endParaRPr lang="en-US" dirty="0"/>
          </a:p>
          <a:p>
            <a:pPr lvl="2"/>
            <a:endParaRPr lang="en-US" dirty="0"/>
          </a:p>
        </p:txBody>
      </p:sp>
      <p:pic>
        <p:nvPicPr>
          <p:cNvPr id="5" name="Picture 4">
            <a:extLst>
              <a:ext uri="{FF2B5EF4-FFF2-40B4-BE49-F238E27FC236}">
                <a16:creationId xmlns:a16="http://schemas.microsoft.com/office/drawing/2014/main" id="{0FFEFD35-A4C8-AA28-09FA-A35F26F699E5}"/>
              </a:ext>
            </a:extLst>
          </p:cNvPr>
          <p:cNvPicPr>
            <a:picLocks noChangeAspect="1"/>
          </p:cNvPicPr>
          <p:nvPr/>
        </p:nvPicPr>
        <p:blipFill>
          <a:blip r:embed="rId3"/>
          <a:stretch>
            <a:fillRect/>
          </a:stretch>
        </p:blipFill>
        <p:spPr>
          <a:xfrm>
            <a:off x="6849635" y="2696065"/>
            <a:ext cx="4760347" cy="2009761"/>
          </a:xfrm>
          <a:prstGeom prst="rect">
            <a:avLst/>
          </a:prstGeom>
        </p:spPr>
      </p:pic>
    </p:spTree>
    <p:extLst>
      <p:ext uri="{BB962C8B-B14F-4D97-AF65-F5344CB8AC3E}">
        <p14:creationId xmlns:p14="http://schemas.microsoft.com/office/powerpoint/2010/main" val="461569718"/>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FDFB-479E-9F01-C5CC-0C0FF3C39268}"/>
              </a:ext>
            </a:extLst>
          </p:cNvPr>
          <p:cNvSpPr>
            <a:spLocks noGrp="1"/>
          </p:cNvSpPr>
          <p:nvPr>
            <p:ph type="title"/>
          </p:nvPr>
        </p:nvSpPr>
        <p:spPr>
          <a:xfrm>
            <a:off x="838200" y="365125"/>
            <a:ext cx="10515600" cy="1058157"/>
          </a:xfrm>
        </p:spPr>
        <p:txBody>
          <a:bodyPr>
            <a:normAutofit fontScale="90000"/>
          </a:bodyPr>
          <a:lstStyle/>
          <a:p>
            <a:r>
              <a:rPr lang="en-US" dirty="0"/>
              <a:t>TAK Server -</a:t>
            </a:r>
            <a:r>
              <a:rPr lang="en-US" sz="4400" b="0" i="0" dirty="0" err="1">
                <a:effectLst/>
                <a:ea typeface="Open Sans" panose="020B0606030504020204" pitchFamily="34" charset="0"/>
                <a:cs typeface="Open Sans" panose="020B0606030504020204" pitchFamily="34" charset="0"/>
              </a:rPr>
              <a:t>UserManager</a:t>
            </a:r>
            <a:r>
              <a:rPr lang="en-US" sz="4400" b="0" i="0" dirty="0">
                <a:effectLst/>
                <a:ea typeface="Open Sans" panose="020B0606030504020204" pitchFamily="34" charset="0"/>
                <a:cs typeface="Open Sans" panose="020B0606030504020204" pitchFamily="34" charset="0"/>
              </a:rPr>
              <a:t> Usage Instructions:</a:t>
            </a:r>
            <a:br>
              <a:rPr lang="en-US" sz="4400" b="0" i="0" dirty="0">
                <a:effectLst/>
                <a:ea typeface="Open Sans" panose="020B0606030504020204" pitchFamily="34" charset="0"/>
                <a:cs typeface="Open Sans" panose="020B0606030504020204" pitchFamily="34" charset="0"/>
              </a:rPr>
            </a:br>
            <a:endParaRPr lang="en-US" dirty="0"/>
          </a:p>
        </p:txBody>
      </p:sp>
      <p:sp>
        <p:nvSpPr>
          <p:cNvPr id="3" name="Content Placeholder 2">
            <a:extLst>
              <a:ext uri="{FF2B5EF4-FFF2-40B4-BE49-F238E27FC236}">
                <a16:creationId xmlns:a16="http://schemas.microsoft.com/office/drawing/2014/main" id="{3BBEFC45-301D-7E8B-CAFF-956086FD2BA1}"/>
              </a:ext>
            </a:extLst>
          </p:cNvPr>
          <p:cNvSpPr>
            <a:spLocks noGrp="1"/>
          </p:cNvSpPr>
          <p:nvPr>
            <p:ph idx="1"/>
          </p:nvPr>
        </p:nvSpPr>
        <p:spPr>
          <a:xfrm>
            <a:off x="838200" y="1264258"/>
            <a:ext cx="10515600" cy="4912705"/>
          </a:xfrm>
        </p:spPr>
        <p:txBody>
          <a:bodyPr>
            <a:normAutofit fontScale="62500" lnSpcReduction="20000"/>
          </a:bodyPr>
          <a:lstStyle/>
          <a:p>
            <a:pPr algn="l"/>
            <a:r>
              <a:rPr lang="en-US" sz="4500" b="1" i="0" dirty="0">
                <a:effectLst/>
                <a:ea typeface="Open Sans" panose="020B0606030504020204" pitchFamily="34" charset="0"/>
                <a:cs typeface="Open Sans" panose="020B0606030504020204" pitchFamily="34" charset="0"/>
              </a:rPr>
              <a:t>java -jar UserManager.jar </a:t>
            </a:r>
            <a:r>
              <a:rPr lang="en-US" sz="4500" b="1" i="0" dirty="0" err="1">
                <a:effectLst/>
                <a:ea typeface="Open Sans" panose="020B0606030504020204" pitchFamily="34" charset="0"/>
                <a:cs typeface="Open Sans" panose="020B0606030504020204" pitchFamily="34" charset="0"/>
              </a:rPr>
              <a:t>certmod</a:t>
            </a:r>
            <a:r>
              <a:rPr lang="en-US" sz="4500" b="1" i="0" dirty="0">
                <a:effectLst/>
                <a:ea typeface="Open Sans" panose="020B0606030504020204" pitchFamily="34" charset="0"/>
                <a:cs typeface="Open Sans" panose="020B0606030504020204" pitchFamily="34" charset="0"/>
              </a:rPr>
              <a:t> [OPTIONS] </a:t>
            </a:r>
            <a:r>
              <a:rPr lang="en-US" sz="4500" b="1" i="0" dirty="0" err="1">
                <a:effectLst/>
                <a:ea typeface="Open Sans" panose="020B0606030504020204" pitchFamily="34" charset="0"/>
                <a:cs typeface="Open Sans" panose="020B0606030504020204" pitchFamily="34" charset="0"/>
              </a:rPr>
              <a:t>certpath</a:t>
            </a:r>
            <a:r>
              <a:rPr lang="en-US" sz="4500" b="0" i="0" dirty="0">
                <a:effectLst/>
                <a:ea typeface="Open Sans" panose="020B0606030504020204" pitchFamily="34" charset="0"/>
                <a:cs typeface="Open Sans" panose="020B0606030504020204" pitchFamily="34" charset="0"/>
              </a:rPr>
              <a:t> </a:t>
            </a:r>
          </a:p>
          <a:p>
            <a:pPr lvl="1"/>
            <a:r>
              <a:rPr lang="en-US" sz="4100" b="0" i="0" dirty="0">
                <a:effectLst/>
                <a:ea typeface="Open Sans" panose="020B0606030504020204" pitchFamily="34" charset="0"/>
                <a:cs typeface="Open Sans" panose="020B0606030504020204" pitchFamily="34" charset="0"/>
              </a:rPr>
              <a:t>Facilitates the viewing, addition, or modification of the users' using certificates. </a:t>
            </a:r>
            <a:endParaRPr lang="en-US" sz="4100" dirty="0">
              <a:ea typeface="Open Sans" panose="020B0606030504020204" pitchFamily="34" charset="0"/>
              <a:cs typeface="Open Sans" panose="020B0606030504020204" pitchFamily="34" charset="0"/>
            </a:endParaRPr>
          </a:p>
          <a:p>
            <a:pPr algn="l"/>
            <a:r>
              <a:rPr lang="en-US" sz="4500" b="0" i="0" dirty="0">
                <a:effectLst/>
                <a:ea typeface="Open Sans" panose="020B0606030504020204" pitchFamily="34" charset="0"/>
                <a:cs typeface="Open Sans" panose="020B0606030504020204" pitchFamily="34" charset="0"/>
              </a:rPr>
              <a:t>Options: </a:t>
            </a:r>
          </a:p>
          <a:p>
            <a:pPr lvl="1"/>
            <a:r>
              <a:rPr lang="en-US" sz="4100" b="1" i="0" dirty="0">
                <a:effectLst/>
                <a:ea typeface="Open Sans" panose="020B0606030504020204" pitchFamily="34" charset="0"/>
                <a:cs typeface="Open Sans" panose="020B0606030504020204" pitchFamily="34" charset="0"/>
              </a:rPr>
              <a:t>-A</a:t>
            </a:r>
            <a:r>
              <a:rPr lang="en-US" sz="4100" b="0" i="0" dirty="0">
                <a:effectLst/>
                <a:ea typeface="Open Sans" panose="020B0606030504020204" pitchFamily="34" charset="0"/>
                <a:cs typeface="Open Sans" panose="020B0606030504020204" pitchFamily="34" charset="0"/>
              </a:rPr>
              <a:t>, --administrator Provides the user with administrative access </a:t>
            </a:r>
          </a:p>
          <a:p>
            <a:pPr lvl="1"/>
            <a:r>
              <a:rPr lang="en-US" sz="4100" b="1" i="0" dirty="0">
                <a:effectLst/>
                <a:ea typeface="Open Sans" panose="020B0606030504020204" pitchFamily="34" charset="0"/>
                <a:cs typeface="Open Sans" panose="020B0606030504020204" pitchFamily="34" charset="0"/>
              </a:rPr>
              <a:t>-D</a:t>
            </a:r>
            <a:r>
              <a:rPr lang="en-US" sz="4100" b="0" i="0" dirty="0">
                <a:effectLst/>
                <a:ea typeface="Open Sans" panose="020B0606030504020204" pitchFamily="34" charset="0"/>
                <a:cs typeface="Open Sans" panose="020B0606030504020204" pitchFamily="34" charset="0"/>
              </a:rPr>
              <a:t>, --delete-user Deletes the user. All other optional parameters will be ignored. </a:t>
            </a:r>
          </a:p>
          <a:p>
            <a:pPr lvl="1"/>
            <a:r>
              <a:rPr lang="en-US" sz="4100" b="1" i="0" dirty="0">
                <a:effectLst/>
                <a:ea typeface="Open Sans" panose="020B0606030504020204" pitchFamily="34" charset="0"/>
                <a:cs typeface="Open Sans" panose="020B0606030504020204" pitchFamily="34" charset="0"/>
              </a:rPr>
              <a:t>-f</a:t>
            </a:r>
            <a:r>
              <a:rPr lang="en-US" sz="4100" b="0" i="0" dirty="0">
                <a:effectLst/>
                <a:ea typeface="Open Sans" panose="020B0606030504020204" pitchFamily="34" charset="0"/>
                <a:cs typeface="Open Sans" panose="020B0606030504020204" pitchFamily="34" charset="0"/>
              </a:rPr>
              <a:t>, --fingerprint </a:t>
            </a:r>
            <a:r>
              <a:rPr lang="en-US" sz="4100" b="0" i="0" dirty="0" err="1">
                <a:effectLst/>
                <a:ea typeface="Open Sans" panose="020B0606030504020204" pitchFamily="34" charset="0"/>
                <a:cs typeface="Open Sans" panose="020B0606030504020204" pitchFamily="34" charset="0"/>
              </a:rPr>
              <a:t>FINGERPRINT</a:t>
            </a:r>
            <a:r>
              <a:rPr lang="en-US" sz="4100" b="0" i="0" dirty="0">
                <a:effectLst/>
                <a:ea typeface="Open Sans" panose="020B0606030504020204" pitchFamily="34" charset="0"/>
                <a:cs typeface="Open Sans" panose="020B0606030504020204" pitchFamily="34" charset="0"/>
              </a:rPr>
              <a:t> Overrides the certificate fingerprint </a:t>
            </a:r>
          </a:p>
          <a:p>
            <a:pPr lvl="1"/>
            <a:r>
              <a:rPr lang="en-US" sz="4100" b="1" i="0" dirty="0">
                <a:effectLst/>
                <a:ea typeface="Open Sans" panose="020B0606030504020204" pitchFamily="34" charset="0"/>
                <a:cs typeface="Open Sans" panose="020B0606030504020204" pitchFamily="34" charset="0"/>
              </a:rPr>
              <a:t>-p</a:t>
            </a:r>
            <a:r>
              <a:rPr lang="en-US" sz="4100" b="0" i="0" dirty="0">
                <a:effectLst/>
                <a:ea typeface="Open Sans" panose="020B0606030504020204" pitchFamily="34" charset="0"/>
                <a:cs typeface="Open Sans" panose="020B0606030504020204" pitchFamily="34" charset="0"/>
              </a:rPr>
              <a:t>, --password </a:t>
            </a:r>
            <a:r>
              <a:rPr lang="en-US" sz="4100" b="0" i="0" dirty="0" err="1">
                <a:effectLst/>
                <a:ea typeface="Open Sans" panose="020B0606030504020204" pitchFamily="34" charset="0"/>
                <a:cs typeface="Open Sans" panose="020B0606030504020204" pitchFamily="34" charset="0"/>
              </a:rPr>
              <a:t>PASSWORD</a:t>
            </a:r>
            <a:r>
              <a:rPr lang="en-US" sz="4100" b="0" i="0" dirty="0">
                <a:effectLst/>
                <a:ea typeface="Open Sans" panose="020B0606030504020204" pitchFamily="34" charset="0"/>
                <a:cs typeface="Open Sans" panose="020B0606030504020204" pitchFamily="34" charset="0"/>
              </a:rPr>
              <a:t> The password for the user. Password requirements: minimum of 15 characters to include 1 uppercase, 1 lowercase, 1 number, and 1 special character from this list [-_!@#$%^&amp;*(){}[]+=~`|:;&lt;&gt;,./\?]. NOTE: you may need to surround the password string with single quotation marks </a:t>
            </a:r>
          </a:p>
          <a:p>
            <a:endParaRPr lang="en-US" dirty="0"/>
          </a:p>
        </p:txBody>
      </p:sp>
    </p:spTree>
    <p:extLst>
      <p:ext uri="{BB962C8B-B14F-4D97-AF65-F5344CB8AC3E}">
        <p14:creationId xmlns:p14="http://schemas.microsoft.com/office/powerpoint/2010/main" val="3582463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929FD-2BA3-8D4D-E7C0-096EE00AB48A}"/>
              </a:ext>
            </a:extLst>
          </p:cNvPr>
          <p:cNvSpPr>
            <a:spLocks noGrp="1"/>
          </p:cNvSpPr>
          <p:nvPr>
            <p:ph type="title"/>
          </p:nvPr>
        </p:nvSpPr>
        <p:spPr>
          <a:xfrm>
            <a:off x="838200" y="365125"/>
            <a:ext cx="10515600" cy="1233087"/>
          </a:xfrm>
        </p:spPr>
        <p:txBody>
          <a:bodyPr>
            <a:normAutofit fontScale="90000"/>
          </a:bodyPr>
          <a:lstStyle/>
          <a:p>
            <a:r>
              <a:rPr lang="en-US" dirty="0"/>
              <a:t>TAK Server -</a:t>
            </a:r>
            <a:r>
              <a:rPr lang="en-US" sz="4400" b="0" i="0" dirty="0" err="1">
                <a:effectLst/>
                <a:ea typeface="Open Sans" panose="020B0606030504020204" pitchFamily="34" charset="0"/>
                <a:cs typeface="Open Sans" panose="020B0606030504020204" pitchFamily="34" charset="0"/>
              </a:rPr>
              <a:t>UserManager</a:t>
            </a:r>
            <a:r>
              <a:rPr lang="en-US" sz="4400" b="0" i="0" dirty="0">
                <a:effectLst/>
                <a:ea typeface="Open Sans" panose="020B0606030504020204" pitchFamily="34" charset="0"/>
                <a:cs typeface="Open Sans" panose="020B0606030504020204" pitchFamily="34" charset="0"/>
              </a:rPr>
              <a:t> Usage Instructions:</a:t>
            </a:r>
            <a:br>
              <a:rPr lang="en-US" sz="4400" b="0" i="0" dirty="0">
                <a:effectLst/>
                <a:ea typeface="Open Sans" panose="020B0606030504020204" pitchFamily="34" charset="0"/>
                <a:cs typeface="Open Sans" panose="020B0606030504020204" pitchFamily="34" charset="0"/>
              </a:rPr>
            </a:br>
            <a:endParaRPr lang="en-US" dirty="0"/>
          </a:p>
        </p:txBody>
      </p:sp>
      <p:sp>
        <p:nvSpPr>
          <p:cNvPr id="3" name="Content Placeholder 2">
            <a:extLst>
              <a:ext uri="{FF2B5EF4-FFF2-40B4-BE49-F238E27FC236}">
                <a16:creationId xmlns:a16="http://schemas.microsoft.com/office/drawing/2014/main" id="{8187AEE9-E9F6-2AAC-A1E8-6E604F1689C7}"/>
              </a:ext>
            </a:extLst>
          </p:cNvPr>
          <p:cNvSpPr>
            <a:spLocks noGrp="1"/>
          </p:cNvSpPr>
          <p:nvPr>
            <p:ph idx="1"/>
          </p:nvPr>
        </p:nvSpPr>
        <p:spPr>
          <a:xfrm>
            <a:off x="838200" y="1256306"/>
            <a:ext cx="10515600" cy="4920657"/>
          </a:xfrm>
        </p:spPr>
        <p:txBody>
          <a:bodyPr>
            <a:normAutofit fontScale="92500" lnSpcReduction="10000"/>
          </a:bodyPr>
          <a:lstStyle/>
          <a:p>
            <a:r>
              <a:rPr lang="en-US" b="1" i="0" dirty="0">
                <a:effectLst/>
                <a:ea typeface="Open Sans" panose="020B0606030504020204" pitchFamily="34" charset="0"/>
                <a:cs typeface="Open Sans" panose="020B0606030504020204" pitchFamily="34" charset="0"/>
              </a:rPr>
              <a:t>java -jar UserManager.jar </a:t>
            </a:r>
            <a:r>
              <a:rPr lang="en-US" b="1" i="0" dirty="0" err="1">
                <a:effectLst/>
                <a:ea typeface="Open Sans" panose="020B0606030504020204" pitchFamily="34" charset="0"/>
                <a:cs typeface="Open Sans" panose="020B0606030504020204" pitchFamily="34" charset="0"/>
              </a:rPr>
              <a:t>usermod</a:t>
            </a:r>
            <a:r>
              <a:rPr lang="en-US" b="1" i="0" dirty="0">
                <a:effectLst/>
                <a:ea typeface="Open Sans" panose="020B0606030504020204" pitchFamily="34" charset="0"/>
                <a:cs typeface="Open Sans" panose="020B0606030504020204" pitchFamily="34" charset="0"/>
              </a:rPr>
              <a:t> [OPTIONS] username </a:t>
            </a:r>
          </a:p>
          <a:p>
            <a:pPr lvl="1"/>
            <a:r>
              <a:rPr lang="en-US" b="0" i="0" dirty="0">
                <a:effectLst/>
                <a:ea typeface="Open Sans" panose="020B0606030504020204" pitchFamily="34" charset="0"/>
                <a:cs typeface="Open Sans" panose="020B0606030504020204" pitchFamily="34" charset="0"/>
              </a:rPr>
              <a:t>Facilitates the viewing, addition, or modification of the users using their username.</a:t>
            </a:r>
          </a:p>
          <a:p>
            <a:r>
              <a:rPr lang="en-US" b="0" i="0" dirty="0">
                <a:effectLst/>
                <a:ea typeface="Open Sans" panose="020B0606030504020204" pitchFamily="34" charset="0"/>
                <a:cs typeface="Open Sans" panose="020B0606030504020204" pitchFamily="34" charset="0"/>
              </a:rPr>
              <a:t>Options: </a:t>
            </a:r>
          </a:p>
          <a:p>
            <a:pPr lvl="1"/>
            <a:r>
              <a:rPr lang="en-US" b="1" i="0" dirty="0">
                <a:effectLst/>
                <a:ea typeface="Open Sans" panose="020B0606030504020204" pitchFamily="34" charset="0"/>
                <a:cs typeface="Open Sans" panose="020B0606030504020204" pitchFamily="34" charset="0"/>
              </a:rPr>
              <a:t>-A</a:t>
            </a:r>
            <a:r>
              <a:rPr lang="en-US" b="0" i="0" dirty="0">
                <a:effectLst/>
                <a:ea typeface="Open Sans" panose="020B0606030504020204" pitchFamily="34" charset="0"/>
                <a:cs typeface="Open Sans" panose="020B0606030504020204" pitchFamily="34" charset="0"/>
              </a:rPr>
              <a:t>, --administrator Provides the user with administrative access </a:t>
            </a:r>
          </a:p>
          <a:p>
            <a:pPr lvl="1"/>
            <a:r>
              <a:rPr lang="en-US" b="1" i="0" dirty="0">
                <a:effectLst/>
                <a:ea typeface="Open Sans" panose="020B0606030504020204" pitchFamily="34" charset="0"/>
                <a:cs typeface="Open Sans" panose="020B0606030504020204" pitchFamily="34" charset="0"/>
              </a:rPr>
              <a:t>-c</a:t>
            </a:r>
            <a:r>
              <a:rPr lang="en-US" b="0" i="0" dirty="0">
                <a:effectLst/>
                <a:ea typeface="Open Sans" panose="020B0606030504020204" pitchFamily="34" charset="0"/>
                <a:cs typeface="Open Sans" panose="020B0606030504020204" pitchFamily="34" charset="0"/>
              </a:rPr>
              <a:t>, --certificate CERTPATH The </a:t>
            </a:r>
            <a:r>
              <a:rPr lang="en-US" b="0" i="0" dirty="0" err="1">
                <a:effectLst/>
                <a:ea typeface="Open Sans" panose="020B0606030504020204" pitchFamily="34" charset="0"/>
                <a:cs typeface="Open Sans" panose="020B0606030504020204" pitchFamily="34" charset="0"/>
              </a:rPr>
              <a:t>filepath</a:t>
            </a:r>
            <a:r>
              <a:rPr lang="en-US" b="0" i="0" dirty="0">
                <a:effectLst/>
                <a:ea typeface="Open Sans" panose="020B0606030504020204" pitchFamily="34" charset="0"/>
                <a:cs typeface="Open Sans" panose="020B0606030504020204" pitchFamily="34" charset="0"/>
              </a:rPr>
              <a:t> to the certificate that contains the user's fingerprint. If the fingerprint is specified as a command line option, this will be ignored!</a:t>
            </a:r>
          </a:p>
          <a:p>
            <a:pPr lvl="1"/>
            <a:r>
              <a:rPr lang="en-US" b="0" i="0" dirty="0">
                <a:effectLst/>
                <a:ea typeface="Open Sans" panose="020B0606030504020204" pitchFamily="34" charset="0"/>
                <a:cs typeface="Open Sans" panose="020B0606030504020204" pitchFamily="34" charset="0"/>
              </a:rPr>
              <a:t> </a:t>
            </a:r>
            <a:r>
              <a:rPr lang="en-US" b="1" i="0" dirty="0">
                <a:effectLst/>
                <a:ea typeface="Open Sans" panose="020B0606030504020204" pitchFamily="34" charset="0"/>
                <a:cs typeface="Open Sans" panose="020B0606030504020204" pitchFamily="34" charset="0"/>
              </a:rPr>
              <a:t>-D</a:t>
            </a:r>
            <a:r>
              <a:rPr lang="en-US" b="0" i="0" dirty="0">
                <a:effectLst/>
                <a:ea typeface="Open Sans" panose="020B0606030504020204" pitchFamily="34" charset="0"/>
                <a:cs typeface="Open Sans" panose="020B0606030504020204" pitchFamily="34" charset="0"/>
              </a:rPr>
              <a:t>, --delete-user Deletes the user. All other optional parameters will be ignored.</a:t>
            </a:r>
          </a:p>
          <a:p>
            <a:pPr lvl="1"/>
            <a:r>
              <a:rPr lang="en-US" b="0" i="0" dirty="0">
                <a:effectLst/>
                <a:ea typeface="Open Sans" panose="020B0606030504020204" pitchFamily="34" charset="0"/>
                <a:cs typeface="Open Sans" panose="020B0606030504020204" pitchFamily="34" charset="0"/>
              </a:rPr>
              <a:t> </a:t>
            </a:r>
            <a:r>
              <a:rPr lang="en-US" b="1" i="0" dirty="0">
                <a:effectLst/>
                <a:ea typeface="Open Sans" panose="020B0606030504020204" pitchFamily="34" charset="0"/>
                <a:cs typeface="Open Sans" panose="020B0606030504020204" pitchFamily="34" charset="0"/>
              </a:rPr>
              <a:t>-f</a:t>
            </a:r>
            <a:r>
              <a:rPr lang="en-US" b="0" i="0" dirty="0">
                <a:effectLst/>
                <a:ea typeface="Open Sans" panose="020B0606030504020204" pitchFamily="34" charset="0"/>
                <a:cs typeface="Open Sans" panose="020B0606030504020204" pitchFamily="34" charset="0"/>
              </a:rPr>
              <a:t>, --fingerprint </a:t>
            </a:r>
            <a:r>
              <a:rPr lang="en-US" b="0" i="0" dirty="0" err="1">
                <a:effectLst/>
                <a:ea typeface="Open Sans" panose="020B0606030504020204" pitchFamily="34" charset="0"/>
                <a:cs typeface="Open Sans" panose="020B0606030504020204" pitchFamily="34" charset="0"/>
              </a:rPr>
              <a:t>FINGERPRINT</a:t>
            </a:r>
            <a:r>
              <a:rPr lang="en-US" b="0" i="0" dirty="0">
                <a:effectLst/>
                <a:ea typeface="Open Sans" panose="020B0606030504020204" pitchFamily="34" charset="0"/>
                <a:cs typeface="Open Sans" panose="020B0606030504020204" pitchFamily="34" charset="0"/>
              </a:rPr>
              <a:t> The fingerprint the user can use to authenticate with</a:t>
            </a:r>
          </a:p>
          <a:p>
            <a:pPr lvl="1"/>
            <a:r>
              <a:rPr lang="en-US" b="1" i="0" dirty="0">
                <a:effectLst/>
                <a:ea typeface="Open Sans" panose="020B0606030504020204" pitchFamily="34" charset="0"/>
                <a:cs typeface="Open Sans" panose="020B0606030504020204" pitchFamily="34" charset="0"/>
              </a:rPr>
              <a:t>-p</a:t>
            </a:r>
            <a:r>
              <a:rPr lang="en-US" b="0" i="0" dirty="0">
                <a:effectLst/>
                <a:ea typeface="Open Sans" panose="020B0606030504020204" pitchFamily="34" charset="0"/>
                <a:cs typeface="Open Sans" panose="020B0606030504020204" pitchFamily="34" charset="0"/>
              </a:rPr>
              <a:t>, --password </a:t>
            </a:r>
            <a:r>
              <a:rPr lang="en-US" b="0" i="0" dirty="0" err="1">
                <a:effectLst/>
                <a:ea typeface="Open Sans" panose="020B0606030504020204" pitchFamily="34" charset="0"/>
                <a:cs typeface="Open Sans" panose="020B0606030504020204" pitchFamily="34" charset="0"/>
              </a:rPr>
              <a:t>PASSWORD</a:t>
            </a:r>
            <a:r>
              <a:rPr lang="en-US" b="0" i="0" dirty="0">
                <a:effectLst/>
                <a:ea typeface="Open Sans" panose="020B0606030504020204" pitchFamily="34" charset="0"/>
                <a:cs typeface="Open Sans" panose="020B0606030504020204" pitchFamily="34" charset="0"/>
              </a:rPr>
              <a:t> The password for the user. Password requirements: minimum of 15 characters to include 1 uppercase, 1 lowercase, 1 number, and 1 special character from this list [-_!@#$%^&amp;*(){}[]+=~`|:;&lt;&gt;,./\?]. NOTE: you may need to surround the password string with single quotation marks </a:t>
            </a:r>
          </a:p>
          <a:p>
            <a:endParaRPr lang="en-US" dirty="0"/>
          </a:p>
        </p:txBody>
      </p:sp>
    </p:spTree>
    <p:extLst>
      <p:ext uri="{BB962C8B-B14F-4D97-AF65-F5344CB8AC3E}">
        <p14:creationId xmlns:p14="http://schemas.microsoft.com/office/powerpoint/2010/main" val="4132557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36BCA-B90B-DA9C-BB15-35CBC74DB044}"/>
              </a:ext>
            </a:extLst>
          </p:cNvPr>
          <p:cNvSpPr>
            <a:spLocks noGrp="1"/>
          </p:cNvSpPr>
          <p:nvPr>
            <p:ph type="title"/>
          </p:nvPr>
        </p:nvSpPr>
        <p:spPr/>
        <p:txBody>
          <a:bodyPr/>
          <a:lstStyle/>
          <a:p>
            <a:r>
              <a:rPr lang="en-US" dirty="0"/>
              <a:t>TAK Server -</a:t>
            </a:r>
            <a:r>
              <a:rPr lang="en-US" sz="4400" b="0" i="0" dirty="0" err="1">
                <a:effectLst/>
                <a:ea typeface="Open Sans" panose="020B0606030504020204" pitchFamily="34" charset="0"/>
                <a:cs typeface="Open Sans" panose="020B0606030504020204" pitchFamily="34" charset="0"/>
              </a:rPr>
              <a:t>UserManager</a:t>
            </a:r>
            <a:r>
              <a:rPr lang="en-US" sz="4400" b="0" i="0" dirty="0">
                <a:effectLst/>
                <a:ea typeface="Open Sans" panose="020B0606030504020204" pitchFamily="34" charset="0"/>
                <a:cs typeface="Open Sans" panose="020B0606030504020204" pitchFamily="34" charset="0"/>
              </a:rPr>
              <a:t> Usage Instructions:</a:t>
            </a:r>
            <a:endParaRPr lang="en-US" dirty="0"/>
          </a:p>
        </p:txBody>
      </p:sp>
      <p:sp>
        <p:nvSpPr>
          <p:cNvPr id="3" name="Content Placeholder 2">
            <a:extLst>
              <a:ext uri="{FF2B5EF4-FFF2-40B4-BE49-F238E27FC236}">
                <a16:creationId xmlns:a16="http://schemas.microsoft.com/office/drawing/2014/main" id="{6B138D84-1BF1-027C-BA53-3F85A253C3B0}"/>
              </a:ext>
            </a:extLst>
          </p:cNvPr>
          <p:cNvSpPr>
            <a:spLocks noGrp="1"/>
          </p:cNvSpPr>
          <p:nvPr>
            <p:ph idx="1"/>
          </p:nvPr>
        </p:nvSpPr>
        <p:spPr>
          <a:xfrm>
            <a:off x="329938" y="1593130"/>
            <a:ext cx="11557262" cy="5194169"/>
          </a:xfrm>
        </p:spPr>
        <p:txBody>
          <a:bodyPr>
            <a:normAutofit/>
          </a:bodyPr>
          <a:lstStyle/>
          <a:p>
            <a:r>
              <a:rPr lang="en-US" dirty="0"/>
              <a:t>To add a user to a specific group: </a:t>
            </a:r>
          </a:p>
          <a:p>
            <a:pPr lvl="1"/>
            <a:r>
              <a:rPr lang="en-US" dirty="0"/>
              <a:t>Both Group:</a:t>
            </a:r>
          </a:p>
          <a:p>
            <a:pPr lvl="2"/>
            <a:r>
              <a:rPr lang="en-US" b="1" dirty="0"/>
              <a:t>UserManager.jar </a:t>
            </a:r>
            <a:r>
              <a:rPr lang="en-US" b="1" dirty="0" err="1"/>
              <a:t>certmod</a:t>
            </a:r>
            <a:r>
              <a:rPr lang="en-US" b="1" dirty="0"/>
              <a:t> -g &lt;</a:t>
            </a:r>
            <a:r>
              <a:rPr lang="en-US" b="1" dirty="0" err="1"/>
              <a:t>groupName</a:t>
            </a:r>
            <a:r>
              <a:rPr lang="en-US" b="1" dirty="0"/>
              <a:t>&gt; /opt/</a:t>
            </a:r>
            <a:r>
              <a:rPr lang="en-US" b="1" dirty="0" err="1"/>
              <a:t>tak</a:t>
            </a:r>
            <a:r>
              <a:rPr lang="en-US" b="1" dirty="0"/>
              <a:t>/certs/files/&lt;</a:t>
            </a:r>
            <a:r>
              <a:rPr lang="en-US" b="1" dirty="0" err="1"/>
              <a:t>commonName</a:t>
            </a:r>
            <a:r>
              <a:rPr lang="en-US" b="1" dirty="0"/>
              <a:t>&gt;.</a:t>
            </a:r>
            <a:r>
              <a:rPr lang="en-US" b="1" dirty="0" err="1"/>
              <a:t>pem</a:t>
            </a:r>
            <a:endParaRPr lang="en-US" b="1" dirty="0"/>
          </a:p>
          <a:p>
            <a:pPr lvl="2"/>
            <a:r>
              <a:rPr lang="en-US" b="1" dirty="0"/>
              <a:t>Example: </a:t>
            </a:r>
            <a:r>
              <a:rPr lang="en-US" dirty="0"/>
              <a:t>UserManager.jar </a:t>
            </a:r>
            <a:r>
              <a:rPr lang="en-US" dirty="0" err="1"/>
              <a:t>certmod</a:t>
            </a:r>
            <a:r>
              <a:rPr lang="en-US" dirty="0"/>
              <a:t> -g __TAK__ /opt/</a:t>
            </a:r>
            <a:r>
              <a:rPr lang="en-US" dirty="0" err="1"/>
              <a:t>tak</a:t>
            </a:r>
            <a:r>
              <a:rPr lang="en-US" dirty="0"/>
              <a:t>/certs/files/</a:t>
            </a:r>
            <a:r>
              <a:rPr lang="en-US" dirty="0" err="1"/>
              <a:t>Denji.pem</a:t>
            </a:r>
            <a:endParaRPr lang="en-US" dirty="0"/>
          </a:p>
          <a:p>
            <a:pPr lvl="1"/>
            <a:r>
              <a:rPr lang="en-US" dirty="0"/>
              <a:t>In Group:</a:t>
            </a:r>
          </a:p>
          <a:p>
            <a:pPr lvl="2"/>
            <a:r>
              <a:rPr lang="en-US" b="1" dirty="0"/>
              <a:t>UserManager.jar </a:t>
            </a:r>
            <a:r>
              <a:rPr lang="en-US" b="1" dirty="0" err="1"/>
              <a:t>certmod</a:t>
            </a:r>
            <a:r>
              <a:rPr lang="en-US" b="1" dirty="0"/>
              <a:t> -</a:t>
            </a:r>
            <a:r>
              <a:rPr lang="en-US" b="1" dirty="0" err="1"/>
              <a:t>ig</a:t>
            </a:r>
            <a:r>
              <a:rPr lang="en-US" b="1" dirty="0"/>
              <a:t> &lt;</a:t>
            </a:r>
            <a:r>
              <a:rPr lang="en-US" b="1" dirty="0" err="1"/>
              <a:t>groupName</a:t>
            </a:r>
            <a:r>
              <a:rPr lang="en-US" b="1" dirty="0"/>
              <a:t>&gt; /opt/</a:t>
            </a:r>
            <a:r>
              <a:rPr lang="en-US" b="1" dirty="0" err="1"/>
              <a:t>tak</a:t>
            </a:r>
            <a:r>
              <a:rPr lang="en-US" b="1" dirty="0"/>
              <a:t>/certs/files/&lt;</a:t>
            </a:r>
            <a:r>
              <a:rPr lang="en-US" b="1" dirty="0" err="1"/>
              <a:t>commonName</a:t>
            </a:r>
            <a:r>
              <a:rPr lang="en-US" b="1" dirty="0"/>
              <a:t>&gt;.</a:t>
            </a:r>
            <a:r>
              <a:rPr lang="en-US" b="1" dirty="0" err="1"/>
              <a:t>pem</a:t>
            </a:r>
            <a:endParaRPr lang="en-US" b="1" dirty="0"/>
          </a:p>
          <a:p>
            <a:pPr lvl="2"/>
            <a:r>
              <a:rPr lang="en-US" b="1" dirty="0"/>
              <a:t>Example: </a:t>
            </a:r>
            <a:r>
              <a:rPr lang="en-US" dirty="0"/>
              <a:t>UserManager.jar </a:t>
            </a:r>
            <a:r>
              <a:rPr lang="en-US" dirty="0" err="1"/>
              <a:t>certmod</a:t>
            </a:r>
            <a:r>
              <a:rPr lang="en-US" dirty="0"/>
              <a:t> -</a:t>
            </a:r>
            <a:r>
              <a:rPr lang="en-US" dirty="0" err="1"/>
              <a:t>ig</a:t>
            </a:r>
            <a:r>
              <a:rPr lang="en-US" dirty="0"/>
              <a:t> TAK /opt/</a:t>
            </a:r>
            <a:r>
              <a:rPr lang="en-US" dirty="0" err="1"/>
              <a:t>tak</a:t>
            </a:r>
            <a:r>
              <a:rPr lang="en-US" dirty="0"/>
              <a:t>/certs/files/</a:t>
            </a:r>
            <a:r>
              <a:rPr lang="en-US" dirty="0" err="1"/>
              <a:t>Denji.pem</a:t>
            </a:r>
            <a:endParaRPr lang="en-US" dirty="0"/>
          </a:p>
          <a:p>
            <a:pPr lvl="1"/>
            <a:r>
              <a:rPr lang="en-US" dirty="0"/>
              <a:t>Out Group:</a:t>
            </a:r>
          </a:p>
          <a:p>
            <a:pPr lvl="2"/>
            <a:r>
              <a:rPr lang="en-US" b="1" dirty="0"/>
              <a:t>UserManager.jar </a:t>
            </a:r>
            <a:r>
              <a:rPr lang="en-US" b="1" dirty="0" err="1"/>
              <a:t>certmod</a:t>
            </a:r>
            <a:r>
              <a:rPr lang="en-US" b="1" dirty="0"/>
              <a:t> -</a:t>
            </a:r>
            <a:r>
              <a:rPr lang="en-US" b="1" dirty="0" err="1"/>
              <a:t>og</a:t>
            </a:r>
            <a:r>
              <a:rPr lang="en-US" b="1" dirty="0"/>
              <a:t> &lt;</a:t>
            </a:r>
            <a:r>
              <a:rPr lang="en-US" b="1" dirty="0" err="1"/>
              <a:t>groupName</a:t>
            </a:r>
            <a:r>
              <a:rPr lang="en-US" b="1" dirty="0"/>
              <a:t>&gt; /opt/</a:t>
            </a:r>
            <a:r>
              <a:rPr lang="en-US" b="1" dirty="0" err="1"/>
              <a:t>tak</a:t>
            </a:r>
            <a:r>
              <a:rPr lang="en-US" b="1" dirty="0"/>
              <a:t>/certs/files/&lt;</a:t>
            </a:r>
            <a:r>
              <a:rPr lang="en-US" b="1" dirty="0" err="1"/>
              <a:t>commonName</a:t>
            </a:r>
            <a:r>
              <a:rPr lang="en-US" b="1" dirty="0"/>
              <a:t>&gt;.</a:t>
            </a:r>
            <a:r>
              <a:rPr lang="en-US" b="1" dirty="0" err="1"/>
              <a:t>pem</a:t>
            </a:r>
            <a:endParaRPr lang="en-US" b="1" dirty="0"/>
          </a:p>
          <a:p>
            <a:pPr lvl="2"/>
            <a:r>
              <a:rPr lang="en-US" b="1" dirty="0"/>
              <a:t>Example: </a:t>
            </a:r>
            <a:r>
              <a:rPr lang="en-US" dirty="0"/>
              <a:t>UserManager.jar </a:t>
            </a:r>
            <a:r>
              <a:rPr lang="en-US" dirty="0" err="1"/>
              <a:t>certmod</a:t>
            </a:r>
            <a:r>
              <a:rPr lang="en-US" dirty="0"/>
              <a:t> -</a:t>
            </a:r>
            <a:r>
              <a:rPr lang="en-US" dirty="0" err="1"/>
              <a:t>og</a:t>
            </a:r>
            <a:r>
              <a:rPr lang="en-US" dirty="0"/>
              <a:t> TEST /opt/</a:t>
            </a:r>
            <a:r>
              <a:rPr lang="en-US" dirty="0" err="1"/>
              <a:t>tak</a:t>
            </a:r>
            <a:r>
              <a:rPr lang="en-US" dirty="0"/>
              <a:t>/certs/files/</a:t>
            </a:r>
            <a:r>
              <a:rPr lang="en-US" dirty="0" err="1"/>
              <a:t>Denji.pem</a:t>
            </a:r>
            <a:endParaRPr lang="en-US" dirty="0"/>
          </a:p>
          <a:p>
            <a:pPr lvl="1"/>
            <a:r>
              <a:rPr lang="en-US" dirty="0"/>
              <a:t>To run the script: (While in the </a:t>
            </a:r>
            <a:r>
              <a:rPr lang="en-US" dirty="0" err="1"/>
              <a:t>tak</a:t>
            </a:r>
            <a:r>
              <a:rPr lang="en-US" dirty="0"/>
              <a:t> user)</a:t>
            </a:r>
          </a:p>
          <a:p>
            <a:pPr lvl="2"/>
            <a:r>
              <a:rPr lang="en-US" b="1" dirty="0"/>
              <a:t>java -jar /opt/</a:t>
            </a:r>
            <a:r>
              <a:rPr lang="en-US" b="1" dirty="0" err="1"/>
              <a:t>tak</a:t>
            </a:r>
            <a:r>
              <a:rPr lang="en-US" b="1" dirty="0"/>
              <a:t>/utils/UserManager.jar </a:t>
            </a:r>
            <a:r>
              <a:rPr lang="en-US" b="1" dirty="0" err="1"/>
              <a:t>certmod</a:t>
            </a:r>
            <a:r>
              <a:rPr lang="en-US" b="1" dirty="0"/>
              <a:t> -g TEST /opt/</a:t>
            </a:r>
            <a:r>
              <a:rPr lang="en-US" b="1" dirty="0" err="1"/>
              <a:t>tak</a:t>
            </a:r>
            <a:r>
              <a:rPr lang="en-US" b="1" dirty="0"/>
              <a:t>/certs/files/</a:t>
            </a:r>
            <a:r>
              <a:rPr lang="en-US" b="1" dirty="0" err="1"/>
              <a:t>Denji.pem</a:t>
            </a:r>
            <a:endParaRPr lang="en-US" b="1" dirty="0"/>
          </a:p>
          <a:p>
            <a:pPr lvl="1"/>
            <a:r>
              <a:rPr lang="en-US" sz="1600" dirty="0"/>
              <a:t>Note: In the examples different group names were used, if the group doesn’t exist, doing this will create the group. </a:t>
            </a:r>
          </a:p>
          <a:p>
            <a:pPr lvl="2"/>
            <a:endParaRPr lang="en-US" dirty="0"/>
          </a:p>
          <a:p>
            <a:pPr lvl="2"/>
            <a:endParaRPr lang="en-US" dirty="0"/>
          </a:p>
        </p:txBody>
      </p:sp>
    </p:spTree>
    <p:extLst>
      <p:ext uri="{BB962C8B-B14F-4D97-AF65-F5344CB8AC3E}">
        <p14:creationId xmlns:p14="http://schemas.microsoft.com/office/powerpoint/2010/main" val="337014902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6E481-9B1A-657A-E928-231E8528C0E3}"/>
              </a:ext>
            </a:extLst>
          </p:cNvPr>
          <p:cNvSpPr>
            <a:spLocks noGrp="1"/>
          </p:cNvSpPr>
          <p:nvPr>
            <p:ph type="title"/>
          </p:nvPr>
        </p:nvSpPr>
        <p:spPr/>
        <p:txBody>
          <a:bodyPr/>
          <a:lstStyle/>
          <a:p>
            <a:r>
              <a:rPr lang="en-US" dirty="0"/>
              <a:t>TAK Server - Implementing Groups - Command Line</a:t>
            </a:r>
          </a:p>
        </p:txBody>
      </p:sp>
      <p:sp>
        <p:nvSpPr>
          <p:cNvPr id="3" name="Content Placeholder 2">
            <a:extLst>
              <a:ext uri="{FF2B5EF4-FFF2-40B4-BE49-F238E27FC236}">
                <a16:creationId xmlns:a16="http://schemas.microsoft.com/office/drawing/2014/main" id="{243143E3-E387-33F2-BB2F-5CC6CDCC3AC8}"/>
              </a:ext>
            </a:extLst>
          </p:cNvPr>
          <p:cNvSpPr>
            <a:spLocks noGrp="1"/>
          </p:cNvSpPr>
          <p:nvPr>
            <p:ph idx="1"/>
          </p:nvPr>
        </p:nvSpPr>
        <p:spPr/>
        <p:txBody>
          <a:bodyPr/>
          <a:lstStyle/>
          <a:p>
            <a:r>
              <a:rPr lang="en-US" dirty="0"/>
              <a:t>Once you are done adding the user to a group you will need to copy over the certificate p12 file if not using auto enrollment.</a:t>
            </a:r>
          </a:p>
          <a:p>
            <a:r>
              <a:rPr lang="en-US" dirty="0"/>
              <a:t>You are able to move users from groups if you have already issued the certificate by running the previous commands.</a:t>
            </a:r>
          </a:p>
          <a:p>
            <a:pPr lvl="1"/>
            <a:r>
              <a:rPr lang="en-US" dirty="0"/>
              <a:t>With this you will not need to re-create a new cert every time you move, add, or change a user group.</a:t>
            </a:r>
          </a:p>
        </p:txBody>
      </p:sp>
    </p:spTree>
    <p:extLst>
      <p:ext uri="{BB962C8B-B14F-4D97-AF65-F5344CB8AC3E}">
        <p14:creationId xmlns:p14="http://schemas.microsoft.com/office/powerpoint/2010/main" val="1781439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87B7-7D37-F918-CB9E-F1A2B5C2FBBE}"/>
              </a:ext>
            </a:extLst>
          </p:cNvPr>
          <p:cNvSpPr>
            <a:spLocks noGrp="1"/>
          </p:cNvSpPr>
          <p:nvPr>
            <p:ph type="title"/>
          </p:nvPr>
        </p:nvSpPr>
        <p:spPr/>
        <p:txBody>
          <a:bodyPr/>
          <a:lstStyle/>
          <a:p>
            <a:r>
              <a:rPr lang="en-US" dirty="0"/>
              <a:t>TAK Server - Implementing Groups - Command Line</a:t>
            </a:r>
          </a:p>
        </p:txBody>
      </p:sp>
      <p:sp>
        <p:nvSpPr>
          <p:cNvPr id="3" name="Content Placeholder 2">
            <a:extLst>
              <a:ext uri="{FF2B5EF4-FFF2-40B4-BE49-F238E27FC236}">
                <a16:creationId xmlns:a16="http://schemas.microsoft.com/office/drawing/2014/main" id="{A941D5D6-4F73-9C9E-009B-1BB24BE51E6F}"/>
              </a:ext>
            </a:extLst>
          </p:cNvPr>
          <p:cNvSpPr>
            <a:spLocks noGrp="1"/>
          </p:cNvSpPr>
          <p:nvPr>
            <p:ph idx="1"/>
          </p:nvPr>
        </p:nvSpPr>
        <p:spPr/>
        <p:txBody>
          <a:bodyPr>
            <a:normAutofit lnSpcReduction="10000"/>
          </a:bodyPr>
          <a:lstStyle/>
          <a:p>
            <a:r>
              <a:rPr lang="en-US" dirty="0"/>
              <a:t>Removing Users from Groups: </a:t>
            </a:r>
          </a:p>
          <a:p>
            <a:pPr lvl="1"/>
            <a:r>
              <a:rPr lang="en-US" dirty="0"/>
              <a:t>Open and examine the UserAuthentication.xml file:</a:t>
            </a:r>
          </a:p>
          <a:p>
            <a:pPr lvl="2"/>
            <a:r>
              <a:rPr lang="en-US" dirty="0"/>
              <a:t>(As the </a:t>
            </a:r>
            <a:r>
              <a:rPr lang="en-US" dirty="0" err="1"/>
              <a:t>tak</a:t>
            </a:r>
            <a:r>
              <a:rPr lang="en-US" dirty="0"/>
              <a:t> user) </a:t>
            </a:r>
            <a:r>
              <a:rPr lang="en-US" b="1" dirty="0"/>
              <a:t>cd /opt/</a:t>
            </a:r>
            <a:r>
              <a:rPr lang="en-US" b="1" dirty="0" err="1"/>
              <a:t>tak</a:t>
            </a:r>
            <a:endParaRPr lang="en-US" b="1" dirty="0"/>
          </a:p>
          <a:p>
            <a:pPr lvl="2"/>
            <a:r>
              <a:rPr lang="en-US" b="1" dirty="0"/>
              <a:t>vi UserAuthenticationFile.xml</a:t>
            </a:r>
          </a:p>
          <a:p>
            <a:pPr lvl="3"/>
            <a:r>
              <a:rPr lang="en-US" dirty="0"/>
              <a:t>You are looking for the user you wish to remove and their group you wish to remove them from, which will be between:</a:t>
            </a:r>
          </a:p>
          <a:p>
            <a:pPr lvl="3"/>
            <a:r>
              <a:rPr lang="en-US" dirty="0"/>
              <a:t>Both group:  &lt;</a:t>
            </a:r>
            <a:r>
              <a:rPr lang="en-US" dirty="0" err="1"/>
              <a:t>groupList</a:t>
            </a:r>
            <a:r>
              <a:rPr lang="en-US" dirty="0"/>
              <a:t>&gt; &lt;group&gt; &lt;/</a:t>
            </a:r>
            <a:r>
              <a:rPr lang="en-US" dirty="0" err="1"/>
              <a:t>groupList</a:t>
            </a:r>
            <a:r>
              <a:rPr lang="en-US" dirty="0"/>
              <a:t>&gt;</a:t>
            </a:r>
          </a:p>
          <a:p>
            <a:pPr lvl="3"/>
            <a:r>
              <a:rPr lang="en-US" dirty="0"/>
              <a:t>In Group: &lt;</a:t>
            </a:r>
            <a:r>
              <a:rPr lang="en-US" dirty="0" err="1"/>
              <a:t>groupListIN</a:t>
            </a:r>
            <a:r>
              <a:rPr lang="en-US" dirty="0"/>
              <a:t>&gt; &lt;group&gt; &lt;/</a:t>
            </a:r>
            <a:r>
              <a:rPr lang="en-US" dirty="0" err="1"/>
              <a:t>groupListIN</a:t>
            </a:r>
            <a:r>
              <a:rPr lang="en-US" dirty="0"/>
              <a:t>&gt;</a:t>
            </a:r>
          </a:p>
          <a:p>
            <a:pPr lvl="3"/>
            <a:r>
              <a:rPr lang="en-US" dirty="0"/>
              <a:t>Out Group: &lt;</a:t>
            </a:r>
            <a:r>
              <a:rPr lang="en-US" dirty="0" err="1"/>
              <a:t>groupListOUT</a:t>
            </a:r>
            <a:r>
              <a:rPr lang="en-US" dirty="0"/>
              <a:t>&gt; &lt;group&gt; &lt;/</a:t>
            </a:r>
            <a:r>
              <a:rPr lang="en-US" dirty="0" err="1"/>
              <a:t>groupListOUT</a:t>
            </a:r>
            <a:r>
              <a:rPr lang="en-US" dirty="0"/>
              <a:t>&gt;</a:t>
            </a:r>
          </a:p>
          <a:p>
            <a:pPr lvl="2"/>
            <a:r>
              <a:rPr lang="en-US" dirty="0"/>
              <a:t>Once you find the group of the user you want to remove them from exit out of the file without editing it: </a:t>
            </a:r>
          </a:p>
          <a:p>
            <a:pPr lvl="3"/>
            <a:r>
              <a:rPr lang="en-US" dirty="0"/>
              <a:t>Press “esc” </a:t>
            </a:r>
          </a:p>
          <a:p>
            <a:pPr lvl="3"/>
            <a:r>
              <a:rPr lang="en-US" b="1" dirty="0"/>
              <a:t>:q!</a:t>
            </a:r>
          </a:p>
          <a:p>
            <a:pPr lvl="3"/>
            <a:r>
              <a:rPr lang="en-US" dirty="0"/>
              <a:t>Press enter</a:t>
            </a:r>
          </a:p>
        </p:txBody>
      </p:sp>
      <p:pic>
        <p:nvPicPr>
          <p:cNvPr id="5" name="Picture 4">
            <a:extLst>
              <a:ext uri="{FF2B5EF4-FFF2-40B4-BE49-F238E27FC236}">
                <a16:creationId xmlns:a16="http://schemas.microsoft.com/office/drawing/2014/main" id="{59D4112D-8D98-FDB3-5BB4-B109BCA85D4A}"/>
              </a:ext>
            </a:extLst>
          </p:cNvPr>
          <p:cNvPicPr>
            <a:picLocks noChangeAspect="1"/>
          </p:cNvPicPr>
          <p:nvPr/>
        </p:nvPicPr>
        <p:blipFill>
          <a:blip r:embed="rId3"/>
          <a:stretch>
            <a:fillRect/>
          </a:stretch>
        </p:blipFill>
        <p:spPr>
          <a:xfrm>
            <a:off x="4326903" y="5484737"/>
            <a:ext cx="6912989" cy="692226"/>
          </a:xfrm>
          <a:prstGeom prst="rect">
            <a:avLst/>
          </a:prstGeom>
        </p:spPr>
      </p:pic>
    </p:spTree>
    <p:extLst>
      <p:ext uri="{BB962C8B-B14F-4D97-AF65-F5344CB8AC3E}">
        <p14:creationId xmlns:p14="http://schemas.microsoft.com/office/powerpoint/2010/main" val="2454695640"/>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75196-72D0-FF50-0CD4-7A0294429399}"/>
              </a:ext>
            </a:extLst>
          </p:cNvPr>
          <p:cNvSpPr>
            <a:spLocks noGrp="1"/>
          </p:cNvSpPr>
          <p:nvPr>
            <p:ph type="title"/>
          </p:nvPr>
        </p:nvSpPr>
        <p:spPr/>
        <p:txBody>
          <a:bodyPr/>
          <a:lstStyle/>
          <a:p>
            <a:r>
              <a:rPr lang="en-US" dirty="0"/>
              <a:t>TAK Server - Implementing Groups - Command Line</a:t>
            </a:r>
          </a:p>
        </p:txBody>
      </p:sp>
      <p:sp>
        <p:nvSpPr>
          <p:cNvPr id="3" name="Content Placeholder 2">
            <a:extLst>
              <a:ext uri="{FF2B5EF4-FFF2-40B4-BE49-F238E27FC236}">
                <a16:creationId xmlns:a16="http://schemas.microsoft.com/office/drawing/2014/main" id="{451D6A80-C4F5-D9B1-8480-A73E127597C6}"/>
              </a:ext>
            </a:extLst>
          </p:cNvPr>
          <p:cNvSpPr>
            <a:spLocks noGrp="1"/>
          </p:cNvSpPr>
          <p:nvPr>
            <p:ph idx="1"/>
          </p:nvPr>
        </p:nvSpPr>
        <p:spPr>
          <a:xfrm>
            <a:off x="405353" y="1621410"/>
            <a:ext cx="11444139" cy="3733015"/>
          </a:xfrm>
        </p:spPr>
        <p:txBody>
          <a:bodyPr>
            <a:normAutofit fontScale="92500"/>
          </a:bodyPr>
          <a:lstStyle/>
          <a:p>
            <a:r>
              <a:rPr lang="en-US" dirty="0"/>
              <a:t>As the </a:t>
            </a:r>
            <a:r>
              <a:rPr lang="en-US" dirty="0" err="1"/>
              <a:t>tak</a:t>
            </a:r>
            <a:r>
              <a:rPr lang="en-US" dirty="0"/>
              <a:t> user</a:t>
            </a:r>
          </a:p>
          <a:p>
            <a:pPr lvl="1"/>
            <a:r>
              <a:rPr lang="en-US" dirty="0"/>
              <a:t>Remove the user from </a:t>
            </a:r>
            <a:r>
              <a:rPr lang="en-US" dirty="0" err="1"/>
              <a:t>GroupB</a:t>
            </a:r>
            <a:r>
              <a:rPr lang="en-US" dirty="0"/>
              <a:t> but retain </a:t>
            </a:r>
            <a:r>
              <a:rPr lang="en-US" dirty="0" err="1"/>
              <a:t>GroupA</a:t>
            </a:r>
            <a:endParaRPr lang="en-US" dirty="0"/>
          </a:p>
          <a:p>
            <a:pPr lvl="2"/>
            <a:r>
              <a:rPr lang="en-US" b="1" dirty="0"/>
              <a:t>java -jar /opt/</a:t>
            </a:r>
            <a:r>
              <a:rPr lang="en-US" b="1" dirty="0" err="1"/>
              <a:t>tak</a:t>
            </a:r>
            <a:r>
              <a:rPr lang="en-US" b="1" dirty="0"/>
              <a:t>/utils/UserManager.jar </a:t>
            </a:r>
            <a:r>
              <a:rPr lang="en-US" b="1" dirty="0" err="1"/>
              <a:t>certmod</a:t>
            </a:r>
            <a:r>
              <a:rPr lang="en-US" b="1" dirty="0"/>
              <a:t> -g </a:t>
            </a:r>
            <a:r>
              <a:rPr lang="en-US" b="1" dirty="0" err="1"/>
              <a:t>GroupA</a:t>
            </a:r>
            <a:r>
              <a:rPr lang="en-US" b="1" dirty="0"/>
              <a:t> /opt/</a:t>
            </a:r>
            <a:r>
              <a:rPr lang="en-US" b="1" dirty="0" err="1"/>
              <a:t>tak</a:t>
            </a:r>
            <a:r>
              <a:rPr lang="en-US" b="1" dirty="0"/>
              <a:t>/certs/files/&lt;user&gt;.</a:t>
            </a:r>
            <a:r>
              <a:rPr lang="en-US" b="1" dirty="0" err="1"/>
              <a:t>pem</a:t>
            </a:r>
            <a:endParaRPr lang="en-US" b="1" dirty="0"/>
          </a:p>
          <a:p>
            <a:pPr lvl="1"/>
            <a:r>
              <a:rPr lang="en-US" dirty="0"/>
              <a:t>Remove the user from </a:t>
            </a:r>
            <a:r>
              <a:rPr lang="en-US" dirty="0" err="1"/>
              <a:t>GroupA</a:t>
            </a:r>
            <a:r>
              <a:rPr lang="en-US" dirty="0"/>
              <a:t> but retain Out Group in </a:t>
            </a:r>
            <a:r>
              <a:rPr lang="en-US" dirty="0" err="1"/>
              <a:t>GroupB</a:t>
            </a:r>
            <a:endParaRPr lang="en-US" dirty="0"/>
          </a:p>
          <a:p>
            <a:pPr lvl="2"/>
            <a:r>
              <a:rPr lang="en-US" b="1" dirty="0"/>
              <a:t>java -jar /opt/</a:t>
            </a:r>
            <a:r>
              <a:rPr lang="en-US" b="1" dirty="0" err="1"/>
              <a:t>tak</a:t>
            </a:r>
            <a:r>
              <a:rPr lang="en-US" b="1" dirty="0"/>
              <a:t>/utils/UserManager.jar </a:t>
            </a:r>
            <a:r>
              <a:rPr lang="en-US" b="1" dirty="0" err="1"/>
              <a:t>certmod</a:t>
            </a:r>
            <a:r>
              <a:rPr lang="en-US" b="1" dirty="0"/>
              <a:t> -</a:t>
            </a:r>
            <a:r>
              <a:rPr lang="en-US" b="1" dirty="0" err="1"/>
              <a:t>og</a:t>
            </a:r>
            <a:r>
              <a:rPr lang="en-US" b="1" dirty="0"/>
              <a:t> </a:t>
            </a:r>
            <a:r>
              <a:rPr lang="en-US" b="1" dirty="0" err="1"/>
              <a:t>GroupB</a:t>
            </a:r>
            <a:r>
              <a:rPr lang="en-US" b="1" dirty="0"/>
              <a:t> /opt/</a:t>
            </a:r>
            <a:r>
              <a:rPr lang="en-US" b="1" dirty="0" err="1"/>
              <a:t>tak</a:t>
            </a:r>
            <a:r>
              <a:rPr lang="en-US" b="1" dirty="0"/>
              <a:t>/certs/files/&lt;user&gt;.</a:t>
            </a:r>
            <a:r>
              <a:rPr lang="en-US" b="1" dirty="0" err="1"/>
              <a:t>pem</a:t>
            </a:r>
            <a:endParaRPr lang="en-US" b="1" dirty="0"/>
          </a:p>
          <a:p>
            <a:pPr lvl="1"/>
            <a:r>
              <a:rPr lang="en-US" dirty="0"/>
              <a:t>To remove a user from a group you only specify the groups you want them to be in and omit the groups you don’t. </a:t>
            </a:r>
          </a:p>
          <a:p>
            <a:pPr lvl="1"/>
            <a:r>
              <a:rPr lang="en-US" dirty="0"/>
              <a:t>You can add them to multiple groups by adding them next to each other as follows:</a:t>
            </a:r>
          </a:p>
          <a:p>
            <a:pPr lvl="2"/>
            <a:r>
              <a:rPr lang="en-US" b="1" dirty="0"/>
              <a:t>java -jar /opt/</a:t>
            </a:r>
            <a:r>
              <a:rPr lang="en-US" b="1" dirty="0" err="1"/>
              <a:t>tak</a:t>
            </a:r>
            <a:r>
              <a:rPr lang="en-US" b="1" dirty="0"/>
              <a:t>/utils/UserManager.jar </a:t>
            </a:r>
            <a:r>
              <a:rPr lang="en-US" b="1" dirty="0" err="1"/>
              <a:t>certmod</a:t>
            </a:r>
            <a:r>
              <a:rPr lang="en-US" b="1" dirty="0"/>
              <a:t> -g </a:t>
            </a:r>
            <a:r>
              <a:rPr lang="en-US" b="1" dirty="0" err="1"/>
              <a:t>GroupA</a:t>
            </a:r>
            <a:r>
              <a:rPr lang="en-US" b="1" dirty="0"/>
              <a:t> -</a:t>
            </a:r>
            <a:r>
              <a:rPr lang="en-US" b="1" dirty="0" err="1"/>
              <a:t>og</a:t>
            </a:r>
            <a:r>
              <a:rPr lang="en-US" b="1" dirty="0"/>
              <a:t> </a:t>
            </a:r>
            <a:r>
              <a:rPr lang="en-US" b="1" dirty="0" err="1"/>
              <a:t>GroupB</a:t>
            </a:r>
            <a:r>
              <a:rPr lang="en-US" b="1" dirty="0"/>
              <a:t> -</a:t>
            </a:r>
            <a:r>
              <a:rPr lang="en-US" b="1" dirty="0" err="1"/>
              <a:t>ig</a:t>
            </a:r>
            <a:r>
              <a:rPr lang="en-US" b="1" dirty="0"/>
              <a:t> </a:t>
            </a:r>
            <a:r>
              <a:rPr lang="en-US" b="1" dirty="0" err="1"/>
              <a:t>GroupC</a:t>
            </a:r>
            <a:r>
              <a:rPr lang="en-US" b="1" dirty="0"/>
              <a:t> /opt/</a:t>
            </a:r>
            <a:r>
              <a:rPr lang="en-US" b="1" dirty="0" err="1"/>
              <a:t>tak</a:t>
            </a:r>
            <a:r>
              <a:rPr lang="en-US" b="1" dirty="0"/>
              <a:t>/certs/files/&lt;user&gt;.</a:t>
            </a:r>
            <a:r>
              <a:rPr lang="en-US" b="1" dirty="0" err="1"/>
              <a:t>pem</a:t>
            </a:r>
            <a:endParaRPr lang="en-US" b="1" dirty="0"/>
          </a:p>
          <a:p>
            <a:pPr lvl="2"/>
            <a:endParaRPr lang="en-US" dirty="0"/>
          </a:p>
        </p:txBody>
      </p:sp>
      <p:pic>
        <p:nvPicPr>
          <p:cNvPr id="7" name="Picture 6">
            <a:extLst>
              <a:ext uri="{FF2B5EF4-FFF2-40B4-BE49-F238E27FC236}">
                <a16:creationId xmlns:a16="http://schemas.microsoft.com/office/drawing/2014/main" id="{0A7CBF09-DB98-E808-2FF1-AF69E6A17307}"/>
              </a:ext>
            </a:extLst>
          </p:cNvPr>
          <p:cNvPicPr>
            <a:picLocks noChangeAspect="1"/>
          </p:cNvPicPr>
          <p:nvPr/>
        </p:nvPicPr>
        <p:blipFill>
          <a:blip r:embed="rId2"/>
          <a:stretch>
            <a:fillRect/>
          </a:stretch>
        </p:blipFill>
        <p:spPr>
          <a:xfrm>
            <a:off x="5092173" y="5236590"/>
            <a:ext cx="7099827" cy="1618342"/>
          </a:xfrm>
          <a:prstGeom prst="rect">
            <a:avLst/>
          </a:prstGeom>
        </p:spPr>
      </p:pic>
    </p:spTree>
    <p:extLst>
      <p:ext uri="{BB962C8B-B14F-4D97-AF65-F5344CB8AC3E}">
        <p14:creationId xmlns:p14="http://schemas.microsoft.com/office/powerpoint/2010/main" val="2384174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E4113-82C5-0783-9EAE-C8B4A7387CA2}"/>
              </a:ext>
            </a:extLst>
          </p:cNvPr>
          <p:cNvSpPr>
            <a:spLocks noGrp="1"/>
          </p:cNvSpPr>
          <p:nvPr>
            <p:ph type="title"/>
          </p:nvPr>
        </p:nvSpPr>
        <p:spPr/>
        <p:txBody>
          <a:bodyPr/>
          <a:lstStyle/>
          <a:p>
            <a:r>
              <a:rPr lang="en-US" dirty="0"/>
              <a:t>TAK Server - Implementing Groups - Server Dashboard</a:t>
            </a:r>
          </a:p>
        </p:txBody>
      </p:sp>
      <p:sp>
        <p:nvSpPr>
          <p:cNvPr id="3" name="Content Placeholder 2">
            <a:extLst>
              <a:ext uri="{FF2B5EF4-FFF2-40B4-BE49-F238E27FC236}">
                <a16:creationId xmlns:a16="http://schemas.microsoft.com/office/drawing/2014/main" id="{C73C5689-404B-0425-3079-F44D739E7731}"/>
              </a:ext>
            </a:extLst>
          </p:cNvPr>
          <p:cNvSpPr>
            <a:spLocks noGrp="1"/>
          </p:cNvSpPr>
          <p:nvPr>
            <p:ph idx="1"/>
          </p:nvPr>
        </p:nvSpPr>
        <p:spPr/>
        <p:txBody>
          <a:bodyPr/>
          <a:lstStyle/>
          <a:p>
            <a:r>
              <a:rPr lang="en-US" dirty="0"/>
              <a:t>Open the server dashboard with a web browser and navigate to the Manager Users section: </a:t>
            </a:r>
          </a:p>
          <a:p>
            <a:pPr lvl="1"/>
            <a:r>
              <a:rPr lang="en-US" dirty="0"/>
              <a:t>Top right hamburger menu </a:t>
            </a:r>
            <a:r>
              <a:rPr lang="en-US" dirty="0">
                <a:sym typeface="Wingdings" panose="05000000000000000000" pitchFamily="2" charset="2"/>
              </a:rPr>
              <a:t></a:t>
            </a:r>
            <a:r>
              <a:rPr lang="en-US" dirty="0"/>
              <a:t> Administrative </a:t>
            </a:r>
            <a:r>
              <a:rPr lang="en-US" dirty="0">
                <a:sym typeface="Wingdings" panose="05000000000000000000" pitchFamily="2" charset="2"/>
              </a:rPr>
              <a:t></a:t>
            </a:r>
            <a:r>
              <a:rPr lang="en-US" dirty="0"/>
              <a:t> Manage Users</a:t>
            </a:r>
          </a:p>
          <a:p>
            <a:r>
              <a:rPr lang="en-US" dirty="0"/>
              <a:t>From here you are able to:</a:t>
            </a:r>
          </a:p>
          <a:p>
            <a:pPr lvl="1"/>
            <a:r>
              <a:rPr lang="en-US" dirty="0"/>
              <a:t>Add users one at a time: Top left, select “Add User” .</a:t>
            </a:r>
          </a:p>
          <a:p>
            <a:pPr lvl="1"/>
            <a:r>
              <a:rPr lang="en-US" dirty="0"/>
              <a:t>Add users in bulk: Top left, select “Add Users”.</a:t>
            </a:r>
          </a:p>
          <a:p>
            <a:pPr lvl="1"/>
            <a:r>
              <a:rPr lang="en-US" dirty="0"/>
              <a:t>Manage groups: </a:t>
            </a:r>
          </a:p>
          <a:p>
            <a:pPr lvl="2"/>
            <a:r>
              <a:rPr lang="en-US" dirty="0"/>
              <a:t>Add new group: Top right, select “Add New Group”.</a:t>
            </a:r>
          </a:p>
          <a:p>
            <a:pPr lvl="2"/>
            <a:r>
              <a:rPr lang="en-US" dirty="0"/>
              <a:t>Search for a group.</a:t>
            </a:r>
          </a:p>
          <a:p>
            <a:pPr lvl="2"/>
            <a:r>
              <a:rPr lang="en-US" dirty="0"/>
              <a:t>View the users in a group: select the group </a:t>
            </a:r>
            <a:r>
              <a:rPr lang="en-US" dirty="0">
                <a:sym typeface="Wingdings" panose="05000000000000000000" pitchFamily="2" charset="2"/>
              </a:rPr>
              <a:t></a:t>
            </a:r>
            <a:r>
              <a:rPr lang="en-US" dirty="0"/>
              <a:t> List users</a:t>
            </a:r>
          </a:p>
          <a:p>
            <a:endParaRPr lang="en-US" dirty="0"/>
          </a:p>
        </p:txBody>
      </p:sp>
    </p:spTree>
    <p:extLst>
      <p:ext uri="{BB962C8B-B14F-4D97-AF65-F5344CB8AC3E}">
        <p14:creationId xmlns:p14="http://schemas.microsoft.com/office/powerpoint/2010/main" val="3928274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3CF6-A5AE-9372-669A-69B78526DBBE}"/>
              </a:ext>
            </a:extLst>
          </p:cNvPr>
          <p:cNvSpPr>
            <a:spLocks noGrp="1"/>
          </p:cNvSpPr>
          <p:nvPr>
            <p:ph type="title"/>
          </p:nvPr>
        </p:nvSpPr>
        <p:spPr/>
        <p:txBody>
          <a:bodyPr/>
          <a:lstStyle/>
          <a:p>
            <a:r>
              <a:rPr lang="en-US" dirty="0"/>
              <a:t>TAK Server - Implementing Groups - Server Dashboard</a:t>
            </a:r>
          </a:p>
        </p:txBody>
      </p:sp>
      <p:sp>
        <p:nvSpPr>
          <p:cNvPr id="3" name="Content Placeholder 2">
            <a:extLst>
              <a:ext uri="{FF2B5EF4-FFF2-40B4-BE49-F238E27FC236}">
                <a16:creationId xmlns:a16="http://schemas.microsoft.com/office/drawing/2014/main" id="{3D4EEC9B-D881-16FD-C77E-E083030662A9}"/>
              </a:ext>
            </a:extLst>
          </p:cNvPr>
          <p:cNvSpPr>
            <a:spLocks noGrp="1"/>
          </p:cNvSpPr>
          <p:nvPr>
            <p:ph idx="1"/>
          </p:nvPr>
        </p:nvSpPr>
        <p:spPr>
          <a:xfrm>
            <a:off x="168897" y="1690687"/>
            <a:ext cx="10515600" cy="4693305"/>
          </a:xfrm>
        </p:spPr>
        <p:txBody>
          <a:bodyPr>
            <a:normAutofit/>
          </a:bodyPr>
          <a:lstStyle/>
          <a:p>
            <a:r>
              <a:rPr lang="en-US" dirty="0"/>
              <a:t>You can add a new user or select a current user.</a:t>
            </a:r>
          </a:p>
          <a:p>
            <a:pPr lvl="1"/>
            <a:r>
              <a:rPr lang="en-US" dirty="0"/>
              <a:t>New user:</a:t>
            </a:r>
          </a:p>
          <a:p>
            <a:pPr lvl="2"/>
            <a:r>
              <a:rPr lang="en-US" dirty="0"/>
              <a:t>Provide a username and password for them.</a:t>
            </a:r>
          </a:p>
          <a:p>
            <a:pPr lvl="2"/>
            <a:r>
              <a:rPr lang="en-US" dirty="0"/>
              <a:t>On the right drag and drop the desired groups where you’d like them. </a:t>
            </a:r>
          </a:p>
          <a:p>
            <a:pPr lvl="2"/>
            <a:r>
              <a:rPr lang="en-US" dirty="0"/>
              <a:t>When you are done, select “Create New User”</a:t>
            </a:r>
          </a:p>
          <a:p>
            <a:pPr lvl="1"/>
            <a:r>
              <a:rPr lang="en-US" dirty="0"/>
              <a:t>Existing user:</a:t>
            </a:r>
          </a:p>
          <a:p>
            <a:pPr lvl="2"/>
            <a:r>
              <a:rPr lang="en-US" dirty="0"/>
              <a:t>select the user from the “Users” panel and then select “View/Edit groups”.</a:t>
            </a:r>
          </a:p>
          <a:p>
            <a:pPr lvl="2"/>
            <a:r>
              <a:rPr lang="en-US" dirty="0"/>
              <a:t>You can drag and drop the groups currently within the user or from the right hand “Groups” panel to the desired locations. </a:t>
            </a:r>
          </a:p>
          <a:p>
            <a:pPr lvl="2"/>
            <a:r>
              <a:rPr lang="en-US" dirty="0"/>
              <a:t>When you are done, select “Update” </a:t>
            </a:r>
          </a:p>
        </p:txBody>
      </p:sp>
      <p:pic>
        <p:nvPicPr>
          <p:cNvPr id="5" name="Picture 4">
            <a:extLst>
              <a:ext uri="{FF2B5EF4-FFF2-40B4-BE49-F238E27FC236}">
                <a16:creationId xmlns:a16="http://schemas.microsoft.com/office/drawing/2014/main" id="{23E422B5-DEA3-220B-8814-FBE0AB260B78}"/>
              </a:ext>
            </a:extLst>
          </p:cNvPr>
          <p:cNvPicPr>
            <a:picLocks noChangeAspect="1"/>
          </p:cNvPicPr>
          <p:nvPr/>
        </p:nvPicPr>
        <p:blipFill>
          <a:blip r:embed="rId2"/>
          <a:stretch>
            <a:fillRect/>
          </a:stretch>
        </p:blipFill>
        <p:spPr>
          <a:xfrm>
            <a:off x="7853314" y="1027906"/>
            <a:ext cx="3623035" cy="1787510"/>
          </a:xfrm>
          <a:prstGeom prst="rect">
            <a:avLst/>
          </a:prstGeom>
        </p:spPr>
      </p:pic>
      <p:pic>
        <p:nvPicPr>
          <p:cNvPr id="7" name="Picture 6">
            <a:extLst>
              <a:ext uri="{FF2B5EF4-FFF2-40B4-BE49-F238E27FC236}">
                <a16:creationId xmlns:a16="http://schemas.microsoft.com/office/drawing/2014/main" id="{7C181ADC-2D7E-6B78-EAA1-0B9CB5C4C635}"/>
              </a:ext>
            </a:extLst>
          </p:cNvPr>
          <p:cNvPicPr>
            <a:picLocks noChangeAspect="1"/>
          </p:cNvPicPr>
          <p:nvPr/>
        </p:nvPicPr>
        <p:blipFill>
          <a:blip r:embed="rId3"/>
          <a:stretch>
            <a:fillRect/>
          </a:stretch>
        </p:blipFill>
        <p:spPr>
          <a:xfrm>
            <a:off x="6018228" y="4853912"/>
            <a:ext cx="4499728" cy="1359363"/>
          </a:xfrm>
          <a:prstGeom prst="rect">
            <a:avLst/>
          </a:prstGeom>
        </p:spPr>
      </p:pic>
    </p:spTree>
    <p:extLst>
      <p:ext uri="{BB962C8B-B14F-4D97-AF65-F5344CB8AC3E}">
        <p14:creationId xmlns:p14="http://schemas.microsoft.com/office/powerpoint/2010/main" val="1998988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217DF-B786-0BAF-1C51-1AEC2640402A}"/>
              </a:ext>
            </a:extLst>
          </p:cNvPr>
          <p:cNvSpPr>
            <a:spLocks noGrp="1"/>
          </p:cNvSpPr>
          <p:nvPr>
            <p:ph type="title"/>
          </p:nvPr>
        </p:nvSpPr>
        <p:spPr/>
        <p:txBody>
          <a:bodyPr/>
          <a:lstStyle/>
          <a:p>
            <a:r>
              <a:rPr lang="en-US" dirty="0"/>
              <a:t>TAK Server - Using Input Based Grouping</a:t>
            </a:r>
          </a:p>
        </p:txBody>
      </p:sp>
      <p:sp>
        <p:nvSpPr>
          <p:cNvPr id="3" name="Content Placeholder 2">
            <a:extLst>
              <a:ext uri="{FF2B5EF4-FFF2-40B4-BE49-F238E27FC236}">
                <a16:creationId xmlns:a16="http://schemas.microsoft.com/office/drawing/2014/main" id="{7ECE9FAC-BF77-1D80-E33E-3CA7EA71D006}"/>
              </a:ext>
            </a:extLst>
          </p:cNvPr>
          <p:cNvSpPr>
            <a:spLocks noGrp="1"/>
          </p:cNvSpPr>
          <p:nvPr>
            <p:ph idx="1"/>
          </p:nvPr>
        </p:nvSpPr>
        <p:spPr>
          <a:xfrm>
            <a:off x="272592" y="1442301"/>
            <a:ext cx="10515600" cy="4640394"/>
          </a:xfrm>
        </p:spPr>
        <p:txBody>
          <a:bodyPr/>
          <a:lstStyle/>
          <a:p>
            <a:r>
              <a:rPr lang="en-US" dirty="0"/>
              <a:t>Determine Open Ports:</a:t>
            </a:r>
          </a:p>
          <a:p>
            <a:pPr lvl="1"/>
            <a:r>
              <a:rPr lang="en-US" dirty="0"/>
              <a:t>View active listening ports (based on your distro some commands will not be available)</a:t>
            </a:r>
          </a:p>
          <a:p>
            <a:pPr lvl="2"/>
            <a:r>
              <a:rPr lang="en-US" b="1" dirty="0" err="1"/>
              <a:t>sudo</a:t>
            </a:r>
            <a:r>
              <a:rPr lang="en-US" b="1" dirty="0"/>
              <a:t> </a:t>
            </a:r>
            <a:r>
              <a:rPr lang="en-US" b="1" dirty="0" err="1"/>
              <a:t>lsof</a:t>
            </a:r>
            <a:r>
              <a:rPr lang="en-US" b="1" dirty="0"/>
              <a:t> -</a:t>
            </a:r>
            <a:r>
              <a:rPr lang="en-US" b="1" dirty="0" err="1"/>
              <a:t>i</a:t>
            </a:r>
            <a:r>
              <a:rPr lang="en-US" b="1" dirty="0"/>
              <a:t> -P -n | grep LISTEN</a:t>
            </a:r>
          </a:p>
          <a:p>
            <a:pPr lvl="2"/>
            <a:r>
              <a:rPr lang="en-US" b="1" dirty="0" err="1"/>
              <a:t>sudo</a:t>
            </a:r>
            <a:r>
              <a:rPr lang="en-US" b="1" dirty="0"/>
              <a:t> netstat -</a:t>
            </a:r>
            <a:r>
              <a:rPr lang="en-US" b="1" dirty="0" err="1"/>
              <a:t>tulpn</a:t>
            </a:r>
            <a:r>
              <a:rPr lang="en-US" b="1" dirty="0"/>
              <a:t> | grep LISTEN</a:t>
            </a:r>
          </a:p>
          <a:p>
            <a:pPr lvl="2"/>
            <a:r>
              <a:rPr lang="en-US" b="1" dirty="0" err="1"/>
              <a:t>sudo</a:t>
            </a:r>
            <a:r>
              <a:rPr lang="en-US" b="1" dirty="0"/>
              <a:t> ss -</a:t>
            </a:r>
            <a:r>
              <a:rPr lang="en-US" b="1" dirty="0" err="1"/>
              <a:t>tulpn</a:t>
            </a:r>
            <a:r>
              <a:rPr lang="en-US" b="1" dirty="0"/>
              <a:t> | grep LISTEN </a:t>
            </a:r>
          </a:p>
          <a:p>
            <a:pPr lvl="3"/>
            <a:r>
              <a:rPr lang="en-US" dirty="0"/>
              <a:t>You only need to run one of the above command, </a:t>
            </a:r>
            <a:br>
              <a:rPr lang="en-US" dirty="0"/>
            </a:br>
            <a:r>
              <a:rPr lang="en-US" dirty="0"/>
              <a:t>which ever works.</a:t>
            </a:r>
          </a:p>
          <a:p>
            <a:pPr lvl="3"/>
            <a:r>
              <a:rPr lang="en-US" dirty="0"/>
              <a:t>We want to identify that the port we have in </a:t>
            </a:r>
            <a:br>
              <a:rPr lang="en-US" dirty="0"/>
            </a:br>
            <a:r>
              <a:rPr lang="en-US" dirty="0"/>
              <a:t>mind is not already in use. </a:t>
            </a:r>
          </a:p>
          <a:p>
            <a:pPr lvl="3"/>
            <a:r>
              <a:rPr lang="en-US" dirty="0"/>
              <a:t>Example: 8087</a:t>
            </a:r>
          </a:p>
          <a:p>
            <a:pPr lvl="1"/>
            <a:endParaRPr lang="en-US" dirty="0"/>
          </a:p>
        </p:txBody>
      </p:sp>
      <p:pic>
        <p:nvPicPr>
          <p:cNvPr id="5" name="Picture 4">
            <a:extLst>
              <a:ext uri="{FF2B5EF4-FFF2-40B4-BE49-F238E27FC236}">
                <a16:creationId xmlns:a16="http://schemas.microsoft.com/office/drawing/2014/main" id="{D6D006FD-A78D-8D7F-53D6-CA2C17D55FDA}"/>
              </a:ext>
            </a:extLst>
          </p:cNvPr>
          <p:cNvPicPr>
            <a:picLocks noChangeAspect="1"/>
          </p:cNvPicPr>
          <p:nvPr/>
        </p:nvPicPr>
        <p:blipFill>
          <a:blip r:embed="rId3"/>
          <a:stretch>
            <a:fillRect/>
          </a:stretch>
        </p:blipFill>
        <p:spPr>
          <a:xfrm>
            <a:off x="7041823" y="2676653"/>
            <a:ext cx="5049896" cy="3615738"/>
          </a:xfrm>
          <a:prstGeom prst="rect">
            <a:avLst/>
          </a:prstGeom>
        </p:spPr>
      </p:pic>
    </p:spTree>
    <p:extLst>
      <p:ext uri="{BB962C8B-B14F-4D97-AF65-F5344CB8AC3E}">
        <p14:creationId xmlns:p14="http://schemas.microsoft.com/office/powerpoint/2010/main" val="150437900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09A1E-6FAB-D96A-7EA8-D7E0558C78C2}"/>
              </a:ext>
            </a:extLst>
          </p:cNvPr>
          <p:cNvSpPr>
            <a:spLocks noGrp="1"/>
          </p:cNvSpPr>
          <p:nvPr>
            <p:ph type="title"/>
          </p:nvPr>
        </p:nvSpPr>
        <p:spPr/>
        <p:txBody>
          <a:bodyPr/>
          <a:lstStyle/>
          <a:p>
            <a:r>
              <a:rPr lang="en-US" dirty="0"/>
              <a:t>TAK Server - Using Input Based Grouping</a:t>
            </a:r>
          </a:p>
        </p:txBody>
      </p:sp>
      <p:sp>
        <p:nvSpPr>
          <p:cNvPr id="3" name="Content Placeholder 2">
            <a:extLst>
              <a:ext uri="{FF2B5EF4-FFF2-40B4-BE49-F238E27FC236}">
                <a16:creationId xmlns:a16="http://schemas.microsoft.com/office/drawing/2014/main" id="{61260EC3-4724-F64F-5689-D5204F60DCA9}"/>
              </a:ext>
            </a:extLst>
          </p:cNvPr>
          <p:cNvSpPr>
            <a:spLocks noGrp="1"/>
          </p:cNvSpPr>
          <p:nvPr>
            <p:ph idx="1"/>
          </p:nvPr>
        </p:nvSpPr>
        <p:spPr/>
        <p:txBody>
          <a:bodyPr/>
          <a:lstStyle/>
          <a:p>
            <a:r>
              <a:rPr lang="en-US" dirty="0"/>
              <a:t>Add the port to our firewall:</a:t>
            </a:r>
          </a:p>
          <a:p>
            <a:pPr lvl="1"/>
            <a:r>
              <a:rPr lang="en-US" b="1" dirty="0" err="1"/>
              <a:t>sudo</a:t>
            </a:r>
            <a:r>
              <a:rPr lang="en-US" b="1" dirty="0"/>
              <a:t> firewall-</a:t>
            </a:r>
            <a:r>
              <a:rPr lang="en-US" b="1" dirty="0" err="1"/>
              <a:t>cmd</a:t>
            </a:r>
            <a:r>
              <a:rPr lang="en-US" b="1" dirty="0"/>
              <a:t> --zone=public --add-port 8087/</a:t>
            </a:r>
            <a:r>
              <a:rPr lang="en-US" b="1" dirty="0" err="1"/>
              <a:t>tcp</a:t>
            </a:r>
            <a:r>
              <a:rPr lang="en-US" b="1" dirty="0"/>
              <a:t> --permanent</a:t>
            </a:r>
          </a:p>
          <a:p>
            <a:r>
              <a:rPr lang="en-US" dirty="0"/>
              <a:t>Reload the firewall to accept the changes:</a:t>
            </a:r>
          </a:p>
          <a:p>
            <a:pPr lvl="1"/>
            <a:r>
              <a:rPr lang="en-US" b="1" dirty="0" err="1"/>
              <a:t>sudo</a:t>
            </a:r>
            <a:r>
              <a:rPr lang="en-US" b="1" dirty="0"/>
              <a:t> firewall-</a:t>
            </a:r>
            <a:r>
              <a:rPr lang="en-US" b="1" dirty="0" err="1"/>
              <a:t>cmd</a:t>
            </a:r>
            <a:r>
              <a:rPr lang="en-US" b="1" dirty="0"/>
              <a:t> --reload</a:t>
            </a:r>
          </a:p>
          <a:p>
            <a:r>
              <a:rPr lang="en-US" dirty="0"/>
              <a:t>Verify the changes:</a:t>
            </a:r>
          </a:p>
          <a:p>
            <a:pPr lvl="1"/>
            <a:r>
              <a:rPr lang="en-US" b="1" dirty="0" err="1"/>
              <a:t>sudo</a:t>
            </a:r>
            <a:r>
              <a:rPr lang="en-US" b="1" dirty="0"/>
              <a:t> firewall-</a:t>
            </a:r>
            <a:r>
              <a:rPr lang="en-US" b="1" dirty="0" err="1"/>
              <a:t>cmd</a:t>
            </a:r>
            <a:r>
              <a:rPr lang="en-US" b="1" dirty="0"/>
              <a:t> --list-all</a:t>
            </a:r>
          </a:p>
        </p:txBody>
      </p:sp>
      <p:pic>
        <p:nvPicPr>
          <p:cNvPr id="5" name="Picture 4">
            <a:extLst>
              <a:ext uri="{FF2B5EF4-FFF2-40B4-BE49-F238E27FC236}">
                <a16:creationId xmlns:a16="http://schemas.microsoft.com/office/drawing/2014/main" id="{0AE4E61D-384F-F315-9FA9-76EDFB4E8B6D}"/>
              </a:ext>
            </a:extLst>
          </p:cNvPr>
          <p:cNvPicPr>
            <a:picLocks noChangeAspect="1"/>
          </p:cNvPicPr>
          <p:nvPr/>
        </p:nvPicPr>
        <p:blipFill>
          <a:blip r:embed="rId2"/>
          <a:stretch>
            <a:fillRect/>
          </a:stretch>
        </p:blipFill>
        <p:spPr>
          <a:xfrm>
            <a:off x="5666352" y="3692769"/>
            <a:ext cx="6409806" cy="3032677"/>
          </a:xfrm>
          <a:prstGeom prst="rect">
            <a:avLst/>
          </a:prstGeom>
        </p:spPr>
      </p:pic>
    </p:spTree>
    <p:extLst>
      <p:ext uri="{BB962C8B-B14F-4D97-AF65-F5344CB8AC3E}">
        <p14:creationId xmlns:p14="http://schemas.microsoft.com/office/powerpoint/2010/main" val="1297023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90AC8-A3D1-C978-9BCE-86487F02104E}"/>
              </a:ext>
            </a:extLst>
          </p:cNvPr>
          <p:cNvSpPr>
            <a:spLocks noGrp="1"/>
          </p:cNvSpPr>
          <p:nvPr>
            <p:ph type="title"/>
          </p:nvPr>
        </p:nvSpPr>
        <p:spPr/>
        <p:txBody>
          <a:bodyPr/>
          <a:lstStyle/>
          <a:p>
            <a:r>
              <a:rPr lang="en-US" dirty="0"/>
              <a:t>TAK Server - Using Input Based Grouping</a:t>
            </a:r>
          </a:p>
        </p:txBody>
      </p:sp>
      <p:sp>
        <p:nvSpPr>
          <p:cNvPr id="3" name="Content Placeholder 2">
            <a:extLst>
              <a:ext uri="{FF2B5EF4-FFF2-40B4-BE49-F238E27FC236}">
                <a16:creationId xmlns:a16="http://schemas.microsoft.com/office/drawing/2014/main" id="{CA301A21-1526-8F43-4169-2F341172CFFA}"/>
              </a:ext>
            </a:extLst>
          </p:cNvPr>
          <p:cNvSpPr>
            <a:spLocks noGrp="1"/>
          </p:cNvSpPr>
          <p:nvPr>
            <p:ph idx="1"/>
          </p:nvPr>
        </p:nvSpPr>
        <p:spPr>
          <a:xfrm>
            <a:off x="838200" y="1470581"/>
            <a:ext cx="10719062" cy="4706382"/>
          </a:xfrm>
        </p:spPr>
        <p:txBody>
          <a:bodyPr/>
          <a:lstStyle/>
          <a:p>
            <a:r>
              <a:rPr lang="en-US" dirty="0"/>
              <a:t>Open the admin dashboard </a:t>
            </a:r>
            <a:r>
              <a:rPr lang="en-US" dirty="0">
                <a:sym typeface="Wingdings" panose="05000000000000000000" pitchFamily="2" charset="2"/>
              </a:rPr>
              <a:t></a:t>
            </a:r>
            <a:r>
              <a:rPr lang="en-US" dirty="0"/>
              <a:t> hamburger menu </a:t>
            </a:r>
            <a:r>
              <a:rPr lang="en-US" dirty="0">
                <a:sym typeface="Wingdings" panose="05000000000000000000" pitchFamily="2" charset="2"/>
              </a:rPr>
              <a:t></a:t>
            </a:r>
            <a:r>
              <a:rPr lang="en-US" dirty="0"/>
              <a:t> Configuration </a:t>
            </a:r>
            <a:r>
              <a:rPr lang="en-US" dirty="0">
                <a:sym typeface="Wingdings" panose="05000000000000000000" pitchFamily="2" charset="2"/>
              </a:rPr>
              <a:t></a:t>
            </a:r>
            <a:r>
              <a:rPr lang="en-US" dirty="0"/>
              <a:t>Input and Data Feeds.</a:t>
            </a:r>
          </a:p>
          <a:p>
            <a:r>
              <a:rPr lang="en-US" dirty="0"/>
              <a:t>Select “Add Input (Server Port)” :</a:t>
            </a:r>
          </a:p>
          <a:p>
            <a:pPr lvl="1"/>
            <a:r>
              <a:rPr lang="en-US" dirty="0"/>
              <a:t>Name: (Your Choice) </a:t>
            </a:r>
            <a:r>
              <a:rPr lang="en-US" dirty="0">
                <a:sym typeface="Wingdings" panose="05000000000000000000" pitchFamily="2" charset="2"/>
              </a:rPr>
              <a:t> </a:t>
            </a:r>
            <a:r>
              <a:rPr lang="en-US" dirty="0"/>
              <a:t>Testing</a:t>
            </a:r>
          </a:p>
          <a:p>
            <a:pPr lvl="1"/>
            <a:r>
              <a:rPr lang="en-US" dirty="0"/>
              <a:t>Protocol: Standard Streaming TCP (TLS)</a:t>
            </a:r>
          </a:p>
          <a:p>
            <a:pPr lvl="1"/>
            <a:r>
              <a:rPr lang="en-US" dirty="0"/>
              <a:t>Authentication Type: X.509</a:t>
            </a:r>
          </a:p>
          <a:p>
            <a:pPr lvl="1"/>
            <a:r>
              <a:rPr lang="en-US" dirty="0"/>
              <a:t>Port: (The port you configured) </a:t>
            </a:r>
            <a:r>
              <a:rPr lang="en-US" dirty="0">
                <a:sym typeface="Wingdings" panose="05000000000000000000" pitchFamily="2" charset="2"/>
              </a:rPr>
              <a:t> </a:t>
            </a:r>
            <a:r>
              <a:rPr lang="en-US" dirty="0"/>
              <a:t>8087</a:t>
            </a:r>
          </a:p>
          <a:p>
            <a:pPr lvl="1"/>
            <a:r>
              <a:rPr lang="en-US" dirty="0"/>
              <a:t>Filter Groups: </a:t>
            </a:r>
            <a:r>
              <a:rPr lang="en-US" dirty="0" err="1"/>
              <a:t>GroupA</a:t>
            </a:r>
            <a:r>
              <a:rPr lang="en-US" dirty="0"/>
              <a:t> </a:t>
            </a:r>
          </a:p>
          <a:p>
            <a:pPr lvl="2"/>
            <a:r>
              <a:rPr lang="en-US" dirty="0"/>
              <a:t>These can be new groups or existing groups from other ports. </a:t>
            </a:r>
          </a:p>
          <a:p>
            <a:pPr lvl="2"/>
            <a:r>
              <a:rPr lang="en-US" dirty="0"/>
              <a:t>You are able to add multiple groups but add each to their own line. </a:t>
            </a:r>
          </a:p>
          <a:p>
            <a:pPr lvl="1"/>
            <a:r>
              <a:rPr lang="en-US" dirty="0"/>
              <a:t>Select “Save”</a:t>
            </a:r>
          </a:p>
        </p:txBody>
      </p:sp>
      <p:pic>
        <p:nvPicPr>
          <p:cNvPr id="7" name="Picture 6">
            <a:extLst>
              <a:ext uri="{FF2B5EF4-FFF2-40B4-BE49-F238E27FC236}">
                <a16:creationId xmlns:a16="http://schemas.microsoft.com/office/drawing/2014/main" id="{A63F3740-FD91-0F4F-DF79-5FA4915AAA0B}"/>
              </a:ext>
            </a:extLst>
          </p:cNvPr>
          <p:cNvPicPr>
            <a:picLocks noChangeAspect="1"/>
          </p:cNvPicPr>
          <p:nvPr/>
        </p:nvPicPr>
        <p:blipFill>
          <a:blip r:embed="rId3"/>
          <a:stretch>
            <a:fillRect/>
          </a:stretch>
        </p:blipFill>
        <p:spPr>
          <a:xfrm>
            <a:off x="9160262" y="2187019"/>
            <a:ext cx="2531811" cy="2964729"/>
          </a:xfrm>
          <a:prstGeom prst="rect">
            <a:avLst/>
          </a:prstGeom>
        </p:spPr>
      </p:pic>
    </p:spTree>
    <p:extLst>
      <p:ext uri="{BB962C8B-B14F-4D97-AF65-F5344CB8AC3E}">
        <p14:creationId xmlns:p14="http://schemas.microsoft.com/office/powerpoint/2010/main" val="4211622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4CEB-79D2-D034-5C61-5F62463CC1DC}"/>
              </a:ext>
            </a:extLst>
          </p:cNvPr>
          <p:cNvSpPr>
            <a:spLocks noGrp="1"/>
          </p:cNvSpPr>
          <p:nvPr>
            <p:ph type="title"/>
          </p:nvPr>
        </p:nvSpPr>
        <p:spPr>
          <a:xfrm>
            <a:off x="838200" y="254586"/>
            <a:ext cx="10515600" cy="1325563"/>
          </a:xfrm>
        </p:spPr>
        <p:txBody>
          <a:bodyPr/>
          <a:lstStyle/>
          <a:p>
            <a:r>
              <a:rPr lang="en-US" dirty="0"/>
              <a:t>TAK Server - Using Input Based Grouping - Command Line</a:t>
            </a:r>
          </a:p>
        </p:txBody>
      </p:sp>
      <p:sp>
        <p:nvSpPr>
          <p:cNvPr id="3" name="Content Placeholder 2">
            <a:extLst>
              <a:ext uri="{FF2B5EF4-FFF2-40B4-BE49-F238E27FC236}">
                <a16:creationId xmlns:a16="http://schemas.microsoft.com/office/drawing/2014/main" id="{2376A19A-4E02-9F08-91BC-7DE67BB374F4}"/>
              </a:ext>
            </a:extLst>
          </p:cNvPr>
          <p:cNvSpPr>
            <a:spLocks noGrp="1"/>
          </p:cNvSpPr>
          <p:nvPr>
            <p:ph idx="1"/>
          </p:nvPr>
        </p:nvSpPr>
        <p:spPr>
          <a:xfrm>
            <a:off x="838200" y="1547485"/>
            <a:ext cx="10515600" cy="3775353"/>
          </a:xfrm>
        </p:spPr>
        <p:txBody>
          <a:bodyPr>
            <a:normAutofit lnSpcReduction="10000"/>
          </a:bodyPr>
          <a:lstStyle/>
          <a:p>
            <a:r>
              <a:rPr lang="en-US" dirty="0"/>
              <a:t>Adding inputs editing the Core Configuration file: </a:t>
            </a:r>
          </a:p>
          <a:p>
            <a:pPr lvl="1"/>
            <a:r>
              <a:rPr lang="en-US" dirty="0"/>
              <a:t>Navigate to and open the CoreConfig.xml file</a:t>
            </a:r>
          </a:p>
          <a:p>
            <a:pPr lvl="1"/>
            <a:r>
              <a:rPr lang="en-US" b="1" dirty="0"/>
              <a:t>cd /opt/</a:t>
            </a:r>
            <a:r>
              <a:rPr lang="en-US" b="1" dirty="0" err="1"/>
              <a:t>tak</a:t>
            </a:r>
            <a:endParaRPr lang="en-US" b="1" dirty="0"/>
          </a:p>
          <a:p>
            <a:pPr lvl="2"/>
            <a:r>
              <a:rPr lang="en-US" b="1" dirty="0"/>
              <a:t>vi CoreConfig.xml</a:t>
            </a:r>
          </a:p>
          <a:p>
            <a:pPr lvl="3"/>
            <a:r>
              <a:rPr lang="en-US" dirty="0"/>
              <a:t>In-between our &lt;network&gt; &lt;/network&gt; section add the following: </a:t>
            </a:r>
          </a:p>
          <a:p>
            <a:pPr lvl="4"/>
            <a:r>
              <a:rPr lang="en-US" dirty="0"/>
              <a:t>&lt;input auth=“x509" _name=“Testing" protocol="</a:t>
            </a:r>
            <a:r>
              <a:rPr lang="en-US" dirty="0" err="1"/>
              <a:t>tls</a:t>
            </a:r>
            <a:r>
              <a:rPr lang="en-US" dirty="0"/>
              <a:t>" port="8087" archive="true" </a:t>
            </a:r>
            <a:r>
              <a:rPr lang="en-US" dirty="0" err="1"/>
              <a:t>anongroup</a:t>
            </a:r>
            <a:r>
              <a:rPr lang="en-US" dirty="0"/>
              <a:t>="false" </a:t>
            </a:r>
            <a:r>
              <a:rPr lang="en-US" dirty="0" err="1"/>
              <a:t>archiveOnly</a:t>
            </a:r>
            <a:r>
              <a:rPr lang="en-US" dirty="0"/>
              <a:t>="false" </a:t>
            </a:r>
            <a:r>
              <a:rPr lang="en-US" dirty="0" err="1"/>
              <a:t>coreVersion</a:t>
            </a:r>
            <a:r>
              <a:rPr lang="en-US" dirty="0"/>
              <a:t>="2" coreVersion2TlsVersions="TLSv1.2,TLSv1.3"&gt;</a:t>
            </a:r>
          </a:p>
          <a:p>
            <a:pPr lvl="4"/>
            <a:r>
              <a:rPr lang="en-US" dirty="0"/>
              <a:t>&lt;</a:t>
            </a:r>
            <a:r>
              <a:rPr lang="en-US" dirty="0" err="1"/>
              <a:t>filtergroup</a:t>
            </a:r>
            <a:r>
              <a:rPr lang="en-US" dirty="0"/>
              <a:t>&gt;</a:t>
            </a:r>
            <a:r>
              <a:rPr lang="en-US" dirty="0" err="1"/>
              <a:t>GroupA</a:t>
            </a:r>
            <a:r>
              <a:rPr lang="en-US" dirty="0"/>
              <a:t>&lt;/</a:t>
            </a:r>
            <a:r>
              <a:rPr lang="en-US" dirty="0" err="1"/>
              <a:t>filtergroup</a:t>
            </a:r>
            <a:r>
              <a:rPr lang="en-US" dirty="0"/>
              <a:t>&gt;</a:t>
            </a:r>
          </a:p>
          <a:p>
            <a:pPr lvl="4"/>
            <a:r>
              <a:rPr lang="en-US" dirty="0"/>
              <a:t>&lt;</a:t>
            </a:r>
            <a:r>
              <a:rPr lang="en-US" dirty="0" err="1"/>
              <a:t>filtergroup</a:t>
            </a:r>
            <a:r>
              <a:rPr lang="en-US" dirty="0"/>
              <a:t>&gt;</a:t>
            </a:r>
            <a:r>
              <a:rPr lang="en-US" dirty="0" err="1"/>
              <a:t>GroupD</a:t>
            </a:r>
            <a:r>
              <a:rPr lang="en-US" dirty="0"/>
              <a:t>&lt;/</a:t>
            </a:r>
            <a:r>
              <a:rPr lang="en-US" dirty="0" err="1"/>
              <a:t>filtergroup</a:t>
            </a:r>
            <a:r>
              <a:rPr lang="en-US" dirty="0"/>
              <a:t>&gt;</a:t>
            </a:r>
          </a:p>
          <a:p>
            <a:pPr lvl="4"/>
            <a:r>
              <a:rPr lang="en-US" dirty="0"/>
              <a:t>&lt;/input&gt;</a:t>
            </a:r>
          </a:p>
          <a:p>
            <a:pPr lvl="3"/>
            <a:r>
              <a:rPr lang="en-US" dirty="0"/>
              <a:t>You can change the values as you desire to add different groups or change the port type. </a:t>
            </a:r>
          </a:p>
          <a:p>
            <a:pPr lvl="3"/>
            <a:endParaRPr lang="en-US" dirty="0"/>
          </a:p>
        </p:txBody>
      </p:sp>
      <p:pic>
        <p:nvPicPr>
          <p:cNvPr id="5" name="Picture 4">
            <a:extLst>
              <a:ext uri="{FF2B5EF4-FFF2-40B4-BE49-F238E27FC236}">
                <a16:creationId xmlns:a16="http://schemas.microsoft.com/office/drawing/2014/main" id="{3FAC4AB8-A0DA-9B80-0D11-319092FBB105}"/>
              </a:ext>
            </a:extLst>
          </p:cNvPr>
          <p:cNvPicPr>
            <a:picLocks noChangeAspect="1"/>
          </p:cNvPicPr>
          <p:nvPr/>
        </p:nvPicPr>
        <p:blipFill>
          <a:blip r:embed="rId4"/>
          <a:stretch>
            <a:fillRect/>
          </a:stretch>
        </p:blipFill>
        <p:spPr>
          <a:xfrm>
            <a:off x="265137" y="5322838"/>
            <a:ext cx="11661725" cy="1535162"/>
          </a:xfrm>
          <a:prstGeom prst="rect">
            <a:avLst/>
          </a:prstGeom>
        </p:spPr>
      </p:pic>
    </p:spTree>
    <p:extLst>
      <p:ext uri="{BB962C8B-B14F-4D97-AF65-F5344CB8AC3E}">
        <p14:creationId xmlns:p14="http://schemas.microsoft.com/office/powerpoint/2010/main" val="1128400898"/>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D09FF-3011-76DF-E8B2-FEF51ED4D3E8}"/>
              </a:ext>
            </a:extLst>
          </p:cNvPr>
          <p:cNvSpPr>
            <a:spLocks noGrp="1"/>
          </p:cNvSpPr>
          <p:nvPr>
            <p:ph type="title"/>
          </p:nvPr>
        </p:nvSpPr>
        <p:spPr/>
        <p:txBody>
          <a:bodyPr/>
          <a:lstStyle/>
          <a:p>
            <a:r>
              <a:rPr lang="en-US" dirty="0"/>
              <a:t>TAK Server - Input Based Grouping - Connection</a:t>
            </a:r>
          </a:p>
        </p:txBody>
      </p:sp>
      <p:sp>
        <p:nvSpPr>
          <p:cNvPr id="3" name="Content Placeholder 2">
            <a:extLst>
              <a:ext uri="{FF2B5EF4-FFF2-40B4-BE49-F238E27FC236}">
                <a16:creationId xmlns:a16="http://schemas.microsoft.com/office/drawing/2014/main" id="{28B45FC2-6802-2820-A790-2620F9A961D4}"/>
              </a:ext>
            </a:extLst>
          </p:cNvPr>
          <p:cNvSpPr>
            <a:spLocks noGrp="1"/>
          </p:cNvSpPr>
          <p:nvPr>
            <p:ph idx="1"/>
          </p:nvPr>
        </p:nvSpPr>
        <p:spPr>
          <a:xfrm>
            <a:off x="838200" y="1690688"/>
            <a:ext cx="10515600" cy="4486275"/>
          </a:xfrm>
        </p:spPr>
        <p:txBody>
          <a:bodyPr/>
          <a:lstStyle/>
          <a:p>
            <a:r>
              <a:rPr lang="en-US" dirty="0"/>
              <a:t>When attempting to connect a TAK device you will follow the standard process but update the port option to that of the configured one. </a:t>
            </a:r>
          </a:p>
          <a:p>
            <a:r>
              <a:rPr lang="en-US" dirty="0"/>
              <a:t>Once connected you can verify the settings</a:t>
            </a:r>
            <a:br>
              <a:rPr lang="en-US" dirty="0"/>
            </a:br>
            <a:r>
              <a:rPr lang="en-US" dirty="0"/>
              <a:t>and number of connected devices from the </a:t>
            </a:r>
            <a:br>
              <a:rPr lang="en-US" dirty="0"/>
            </a:br>
            <a:r>
              <a:rPr lang="en-US" dirty="0"/>
              <a:t>“Inputs and Data Feeds” panel. </a:t>
            </a:r>
          </a:p>
        </p:txBody>
      </p:sp>
      <p:pic>
        <p:nvPicPr>
          <p:cNvPr id="5" name="Picture 4">
            <a:extLst>
              <a:ext uri="{FF2B5EF4-FFF2-40B4-BE49-F238E27FC236}">
                <a16:creationId xmlns:a16="http://schemas.microsoft.com/office/drawing/2014/main" id="{948BE264-A36F-06FF-6D7A-06F6F17CF14C}"/>
              </a:ext>
            </a:extLst>
          </p:cNvPr>
          <p:cNvPicPr>
            <a:picLocks noChangeAspect="1"/>
          </p:cNvPicPr>
          <p:nvPr/>
        </p:nvPicPr>
        <p:blipFill>
          <a:blip r:embed="rId3"/>
          <a:stretch>
            <a:fillRect/>
          </a:stretch>
        </p:blipFill>
        <p:spPr>
          <a:xfrm>
            <a:off x="8648841" y="3238059"/>
            <a:ext cx="3229426" cy="3391373"/>
          </a:xfrm>
          <a:prstGeom prst="rect">
            <a:avLst/>
          </a:prstGeom>
        </p:spPr>
      </p:pic>
      <p:pic>
        <p:nvPicPr>
          <p:cNvPr id="7" name="Picture 6">
            <a:extLst>
              <a:ext uri="{FF2B5EF4-FFF2-40B4-BE49-F238E27FC236}">
                <a16:creationId xmlns:a16="http://schemas.microsoft.com/office/drawing/2014/main" id="{DCE02547-9AB9-A1D4-588A-1A0DEFA48F27}"/>
              </a:ext>
            </a:extLst>
          </p:cNvPr>
          <p:cNvPicPr>
            <a:picLocks noChangeAspect="1"/>
          </p:cNvPicPr>
          <p:nvPr/>
        </p:nvPicPr>
        <p:blipFill>
          <a:blip r:embed="rId4"/>
          <a:stretch>
            <a:fillRect/>
          </a:stretch>
        </p:blipFill>
        <p:spPr>
          <a:xfrm>
            <a:off x="228600" y="5184696"/>
            <a:ext cx="8420241" cy="1444736"/>
          </a:xfrm>
          <a:prstGeom prst="rect">
            <a:avLst/>
          </a:prstGeom>
        </p:spPr>
      </p:pic>
    </p:spTree>
    <p:extLst>
      <p:ext uri="{BB962C8B-B14F-4D97-AF65-F5344CB8AC3E}">
        <p14:creationId xmlns:p14="http://schemas.microsoft.com/office/powerpoint/2010/main" val="1689328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1805</TotalTime>
  <Words>1727</Words>
  <PresentationFormat>Widescreen</PresentationFormat>
  <Paragraphs>138</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Calibri</vt:lpstr>
      <vt:lpstr>Open Sans</vt:lpstr>
      <vt:lpstr>Wingdings</vt:lpstr>
      <vt:lpstr>Office Theme</vt:lpstr>
      <vt:lpstr>TAK Server - Managing Users and Groups</vt:lpstr>
      <vt:lpstr>TAK Server - Groups</vt:lpstr>
      <vt:lpstr>TAK Server - Implementing Groups - Command Line</vt:lpstr>
      <vt:lpstr>TAK Server -UserManager Usage Instructions: </vt:lpstr>
      <vt:lpstr>TAK Server -UserManager Usage Instructions: </vt:lpstr>
      <vt:lpstr>TAK Server -UserManager Usage Instructions:</vt:lpstr>
      <vt:lpstr>TAK Server - Implementing Groups - Command Line</vt:lpstr>
      <vt:lpstr>TAK Server - Implementing Groups - Command Line</vt:lpstr>
      <vt:lpstr>TAK Server - Implementing Groups - Command Line</vt:lpstr>
      <vt:lpstr>TAK Server - Implementing Groups - Server Dashboard</vt:lpstr>
      <vt:lpstr>TAK Server - Implementing Groups - Server Dashboard</vt:lpstr>
      <vt:lpstr>TAK Server - Using Input Based Grouping</vt:lpstr>
      <vt:lpstr>TAK Server - Using Input Based Grouping</vt:lpstr>
      <vt:lpstr>TAK Server - Using Input Based Grouping</vt:lpstr>
      <vt:lpstr>TAK Server - Using Input Based Grouping - Command Line</vt:lpstr>
      <vt:lpstr>TAK Server - Input Based Grouping - Connection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2024-08-05T17:04:09Z</dcterms:created>
  <dcterms:modified xsi:type="dcterms:W3CDTF">2025-04-14T17:40:49Z</dcterms:modified>
</cp:coreProperties>
</file>